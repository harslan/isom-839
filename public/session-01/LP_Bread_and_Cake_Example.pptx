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Inter SemiBold"/>
      <p:regular r:id="rId26"/>
      <p:bold r:id="rId27"/>
      <p:italic r:id="rId28"/>
      <p:boldItalic r:id="rId29"/>
    </p:embeddedFont>
    <p:embeddedFont>
      <p:font typeface="Inter"/>
      <p:bold r:id="rId30"/>
      <p:boldItalic r:id="rId31"/>
    </p:embeddedFont>
    <p:embeddedFont>
      <p:font typeface="Inter ExtraBold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hmRCNi004XXqK3+HdKmB1+QqbQ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regular.fntdata"/><Relationship Id="rId25" Type="http://schemas.openxmlformats.org/officeDocument/2006/relationships/slide" Target="slides/slide20.xml"/><Relationship Id="rId28" Type="http://schemas.openxmlformats.org/officeDocument/2006/relationships/font" Target="fonts/InterSemiBold-italic.fntdata"/><Relationship Id="rId27" Type="http://schemas.openxmlformats.org/officeDocument/2006/relationships/font" Target="fonts/Inter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InterExtraBold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Extra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6" name="Google Shape;6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2" name="Google Shape;7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8" name="Google Shape;10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2" name="Google Shape;1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8" name="Google Shape;1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1" name="Google Shape;13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6" name="Google Shape;14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1" name="Google Shape;15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5" name="Google Shape;15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4" name="Google Shape;16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5" name="Google Shape;17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3" name="Google Shape;185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1" name="Google Shape;194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3" name="Google Shape;20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3" name="Google Shape;212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1" name="Google Shape;41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8" name="Google Shape;48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9" name="Google Shape;59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0" name="Google Shape;60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1" name="Google Shape;61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8" name="Google Shape;68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476250" y="428625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2C1A1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Example: Bakery</a:t>
            </a:r>
            <a:endParaRPr b="0" sz="3200">
              <a:solidFill>
                <a:srgbClr val="2C1A1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>
            <a:off x="476250" y="1238250"/>
            <a:ext cx="3810000" cy="5143500"/>
            <a:chOff x="0" y="0"/>
            <a:chExt cx="3810000" cy="514350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3810000" cy="5143500"/>
            </a:xfrm>
            <a:prstGeom prst="roundRect">
              <a:avLst>
                <a:gd fmla="val 4000" name="adj"/>
              </a:avLst>
            </a:prstGeom>
            <a:solidFill>
              <a:srgbClr val="F4EFEA"/>
            </a:solidFill>
            <a:ln cap="flat" cmpd="sng" w="14300">
              <a:solidFill>
                <a:srgbClr val="E6DF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228600" y="228600"/>
              <a:ext cx="33528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C1A11"/>
                  </a:solidFill>
                  <a:latin typeface="Inter"/>
                  <a:ea typeface="Inter"/>
                  <a:cs typeface="Inter"/>
                  <a:sym typeface="Inter"/>
                </a:rPr>
                <a:t>Problem Statement</a:t>
              </a:r>
              <a:endParaRPr b="1" sz="1400">
                <a:solidFill>
                  <a:srgbClr val="2C1A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A3B32"/>
                  </a:solidFill>
                  <a:latin typeface="Inter"/>
                  <a:ea typeface="Inter"/>
                  <a:cs typeface="Inter"/>
                  <a:sym typeface="Inter"/>
                </a:rPr>
                <a:t>A Bakery produces both, breads and cakes in batches. A batch of bread contributes $50 to profit and a batch of cake $60. The bakery can sell at most 90 batches of bread each week and no more than 60 batches of cake.</a:t>
              </a:r>
              <a:endParaRPr sz="1150">
                <a:solidFill>
                  <a:srgbClr val="4A3B3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A3B32"/>
                  </a:solidFill>
                  <a:latin typeface="Inter"/>
                  <a:ea typeface="Inter"/>
                  <a:cs typeface="Inter"/>
                  <a:sym typeface="Inter"/>
                </a:rPr>
                <a:t>Production is mainly constrained by the available oven time (a batch of bread requires 1 hour of baking, a batch of cake requires 45 minutes) and the manual labor associated with a batch (30 minutes for bread, 60 minutes for cake). Each week, 4200 minutes of labor are available and 4650 minutes of oven time.</a:t>
              </a:r>
              <a:endParaRPr sz="1150">
                <a:solidFill>
                  <a:srgbClr val="4A3B3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228600" y="4191000"/>
              <a:ext cx="3352800" cy="723900"/>
            </a:xfrm>
            <a:prstGeom prst="roundRect">
              <a:avLst>
                <a:gd fmla="val 13157" name="adj"/>
              </a:avLst>
            </a:prstGeom>
            <a:solidFill>
              <a:srgbClr val="E6DCD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323850" y="4191000"/>
              <a:ext cx="31623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C1A11"/>
                  </a:solidFill>
                  <a:latin typeface="Inter"/>
                  <a:ea typeface="Inter"/>
                  <a:cs typeface="Inter"/>
                  <a:sym typeface="Inter"/>
                </a:rPr>
                <a:t>What are the optimal production quantities?</a:t>
              </a:r>
              <a:endParaRPr b="1" sz="1200">
                <a:solidFill>
                  <a:srgbClr val="2C1A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4572000" y="1238250"/>
            <a:ext cx="4095900" cy="2381400"/>
            <a:chOff x="0" y="0"/>
            <a:chExt cx="4095900" cy="2381400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4095900" cy="23814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14300">
              <a:solidFill>
                <a:srgbClr val="E6DF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7" name="Google Shape;97;p1"/>
            <p:cNvPicPr preferRelativeResize="0"/>
            <p:nvPr/>
          </p:nvPicPr>
          <p:blipFill rotWithShape="1">
            <a:blip r:embed="rId4">
              <a:alphaModFix/>
            </a:blip>
            <a:srcRect b="0" l="1055" r="7185" t="0"/>
            <a:stretch/>
          </p:blipFill>
          <p:spPr>
            <a:xfrm>
              <a:off x="183975" y="228600"/>
              <a:ext cx="1338900" cy="981900"/>
            </a:xfrm>
            <a:prstGeom prst="roundRect">
              <a:avLst>
                <a:gd fmla="val 10909" name="adj"/>
              </a:avLst>
            </a:prstGeom>
            <a:noFill/>
            <a:ln>
              <a:noFill/>
            </a:ln>
          </p:spPr>
        </p:pic>
        <p:sp>
          <p:nvSpPr>
            <p:cNvPr id="98" name="Google Shape;98;p1"/>
            <p:cNvSpPr txBox="1"/>
            <p:nvPr/>
          </p:nvSpPr>
          <p:spPr>
            <a:xfrm>
              <a:off x="1847850" y="228600"/>
              <a:ext cx="2019300" cy="19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8B5A2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Bread (B)</a:t>
              </a:r>
              <a:endParaRPr b="0" sz="1800">
                <a:solidFill>
                  <a:srgbClr val="8B5A2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C1A11"/>
                  </a:solidFill>
                  <a:latin typeface="Inter"/>
                  <a:ea typeface="Inter"/>
                  <a:cs typeface="Inter"/>
                  <a:sym typeface="Inter"/>
                </a:rPr>
                <a:t>Profit: </a:t>
              </a:r>
              <a:r>
                <a:rPr b="1" lang="en-US" sz="1200">
                  <a:solidFill>
                    <a:srgbClr val="C68B59"/>
                  </a:solidFill>
                  <a:latin typeface="Inter"/>
                  <a:ea typeface="Inter"/>
                  <a:cs typeface="Inter"/>
                  <a:sym typeface="Inter"/>
                </a:rPr>
                <a:t>$50 / batch</a:t>
              </a:r>
              <a:endParaRPr b="1" sz="1200">
                <a:solidFill>
                  <a:srgbClr val="2C1A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A3B32"/>
                </a:buClr>
                <a:buSzPts val="1000"/>
                <a:buFont typeface="Inter"/>
                <a:buChar char="●"/>
              </a:pPr>
              <a:r>
                <a:rPr b="0" lang="en-US" sz="1000">
                  <a:solidFill>
                    <a:srgbClr val="4A3B3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Max Demand:</a:t>
              </a:r>
              <a:r>
                <a:rPr lang="en-US" sz="1000">
                  <a:solidFill>
                    <a:srgbClr val="4A3B32"/>
                  </a:solidFill>
                  <a:latin typeface="Inter"/>
                  <a:ea typeface="Inter"/>
                  <a:cs typeface="Inter"/>
                  <a:sym typeface="Inter"/>
                </a:rPr>
                <a:t> 90 batches/wk</a:t>
              </a:r>
              <a:endParaRPr sz="1000">
                <a:solidFill>
                  <a:srgbClr val="4A3B3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A3B32"/>
                </a:buClr>
                <a:buSzPts val="1000"/>
                <a:buFont typeface="Inter"/>
                <a:buChar char="●"/>
              </a:pPr>
              <a:r>
                <a:rPr b="0" lang="en-US" sz="1000">
                  <a:solidFill>
                    <a:srgbClr val="4A3B3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Oven Time:</a:t>
              </a:r>
              <a:r>
                <a:rPr lang="en-US" sz="1000">
                  <a:solidFill>
                    <a:srgbClr val="4A3B32"/>
                  </a:solidFill>
                  <a:latin typeface="Inter"/>
                  <a:ea typeface="Inter"/>
                  <a:cs typeface="Inter"/>
                  <a:sym typeface="Inter"/>
                </a:rPr>
                <a:t> 1 hour (60 min)</a:t>
              </a:r>
              <a:endParaRPr sz="1000">
                <a:solidFill>
                  <a:srgbClr val="4A3B3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A3B32"/>
                </a:buClr>
                <a:buSzPts val="1000"/>
                <a:buFont typeface="Inter"/>
                <a:buChar char="●"/>
              </a:pPr>
              <a:r>
                <a:rPr b="0" lang="en-US" sz="1000">
                  <a:solidFill>
                    <a:srgbClr val="4A3B3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Labor:</a:t>
              </a:r>
              <a:r>
                <a:rPr lang="en-US" sz="1000">
                  <a:solidFill>
                    <a:srgbClr val="4A3B32"/>
                  </a:solidFill>
                  <a:latin typeface="Inter"/>
                  <a:ea typeface="Inter"/>
                  <a:cs typeface="Inter"/>
                  <a:sym typeface="Inter"/>
                </a:rPr>
                <a:t> 30 minutes</a:t>
              </a:r>
              <a:endParaRPr sz="1000">
                <a:solidFill>
                  <a:srgbClr val="4A3B3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>
            <a:off x="4572000" y="4000500"/>
            <a:ext cx="4095900" cy="2381400"/>
            <a:chOff x="0" y="0"/>
            <a:chExt cx="4095900" cy="2381400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4095900" cy="23814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14300">
              <a:solidFill>
                <a:srgbClr val="E6DF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1" name="Google Shape;101;p1"/>
            <p:cNvPicPr preferRelativeResize="0"/>
            <p:nvPr/>
          </p:nvPicPr>
          <p:blipFill rotWithShape="1">
            <a:blip r:embed="rId5">
              <a:alphaModFix/>
            </a:blip>
            <a:srcRect b="4352" l="169" r="179" t="0"/>
            <a:stretch/>
          </p:blipFill>
          <p:spPr>
            <a:xfrm>
              <a:off x="228600" y="228600"/>
              <a:ext cx="1428900" cy="1047900"/>
            </a:xfrm>
            <a:prstGeom prst="roundRect">
              <a:avLst>
                <a:gd fmla="val 10909" name="adj"/>
              </a:avLst>
            </a:prstGeom>
            <a:noFill/>
            <a:ln>
              <a:noFill/>
            </a:ln>
          </p:spPr>
        </p:pic>
        <p:sp>
          <p:nvSpPr>
            <p:cNvPr id="102" name="Google Shape;102;p1"/>
            <p:cNvSpPr txBox="1"/>
            <p:nvPr/>
          </p:nvSpPr>
          <p:spPr>
            <a:xfrm>
              <a:off x="1847850" y="228600"/>
              <a:ext cx="2019300" cy="19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D27D2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Cake (C)</a:t>
              </a:r>
              <a:endParaRPr b="0" sz="1800">
                <a:solidFill>
                  <a:srgbClr val="D27D2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C1A11"/>
                  </a:solidFill>
                  <a:latin typeface="Inter"/>
                  <a:ea typeface="Inter"/>
                  <a:cs typeface="Inter"/>
                  <a:sym typeface="Inter"/>
                </a:rPr>
                <a:t>Profit: </a:t>
              </a:r>
              <a:r>
                <a:rPr b="1" lang="en-US" sz="1200">
                  <a:solidFill>
                    <a:srgbClr val="C68B59"/>
                  </a:solidFill>
                  <a:latin typeface="Inter"/>
                  <a:ea typeface="Inter"/>
                  <a:cs typeface="Inter"/>
                  <a:sym typeface="Inter"/>
                </a:rPr>
                <a:t>$60 / batch</a:t>
              </a:r>
              <a:endParaRPr b="1" sz="1200">
                <a:solidFill>
                  <a:srgbClr val="2C1A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A3B32"/>
                </a:buClr>
                <a:buSzPts val="1000"/>
                <a:buFont typeface="Inter"/>
                <a:buChar char="●"/>
              </a:pPr>
              <a:r>
                <a:rPr b="0" lang="en-US" sz="1000">
                  <a:solidFill>
                    <a:srgbClr val="4A3B3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Max Demand:</a:t>
              </a:r>
              <a:r>
                <a:rPr lang="en-US" sz="1000">
                  <a:solidFill>
                    <a:srgbClr val="4A3B32"/>
                  </a:solidFill>
                  <a:latin typeface="Inter"/>
                  <a:ea typeface="Inter"/>
                  <a:cs typeface="Inter"/>
                  <a:sym typeface="Inter"/>
                </a:rPr>
                <a:t> 60 batches/wk</a:t>
              </a:r>
              <a:endParaRPr sz="1000">
                <a:solidFill>
                  <a:srgbClr val="4A3B3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A3B32"/>
                </a:buClr>
                <a:buSzPts val="1000"/>
                <a:buFont typeface="Inter"/>
                <a:buChar char="●"/>
              </a:pPr>
              <a:r>
                <a:rPr b="0" lang="en-US" sz="1000">
                  <a:solidFill>
                    <a:srgbClr val="4A3B3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Oven Time:</a:t>
              </a:r>
              <a:r>
                <a:rPr lang="en-US" sz="1000">
                  <a:solidFill>
                    <a:srgbClr val="4A3B32"/>
                  </a:solidFill>
                  <a:latin typeface="Inter"/>
                  <a:ea typeface="Inter"/>
                  <a:cs typeface="Inter"/>
                  <a:sym typeface="Inter"/>
                </a:rPr>
                <a:t> 45 minutes</a:t>
              </a:r>
              <a:endParaRPr sz="1000">
                <a:solidFill>
                  <a:srgbClr val="4A3B3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A3B32"/>
                </a:buClr>
                <a:buSzPts val="1000"/>
                <a:buFont typeface="Inter"/>
                <a:buChar char="●"/>
              </a:pPr>
              <a:r>
                <a:rPr b="0" lang="en-US" sz="1000">
                  <a:solidFill>
                    <a:srgbClr val="4A3B3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Labor:</a:t>
              </a:r>
              <a:r>
                <a:rPr lang="en-US" sz="1000">
                  <a:solidFill>
                    <a:srgbClr val="4A3B32"/>
                  </a:solidFill>
                  <a:latin typeface="Inter"/>
                  <a:ea typeface="Inter"/>
                  <a:cs typeface="Inter"/>
                  <a:sym typeface="Inter"/>
                </a:rPr>
                <a:t> 60 minutes</a:t>
              </a:r>
              <a:endParaRPr sz="1000">
                <a:solidFill>
                  <a:srgbClr val="4A3B3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571500" y="762000"/>
            <a:ext cx="3238500" cy="4381500"/>
            <a:chOff x="0" y="0"/>
            <a:chExt cx="3238500" cy="4381500"/>
          </a:xfrm>
        </p:grpSpPr>
        <p:sp>
          <p:nvSpPr>
            <p:cNvPr id="109" name="Google Shape;109;p2"/>
            <p:cNvSpPr txBox="1"/>
            <p:nvPr/>
          </p:nvSpPr>
          <p:spPr>
            <a:xfrm>
              <a:off x="0" y="0"/>
              <a:ext cx="3238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C4899"/>
                  </a:solidFill>
                  <a:latin typeface="Inter"/>
                  <a:ea typeface="Inter"/>
                  <a:cs typeface="Inter"/>
                  <a:sym typeface="Inter"/>
                </a:rPr>
                <a:t>Constraint Analysis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Labor Limit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30B + 60C ≤ 4,200 mins</a:t>
              </a:r>
              <a:endParaRPr b="0" sz="16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10" name="Google Shape;110;p2"/>
            <p:cNvGrpSpPr/>
            <p:nvPr/>
          </p:nvGrpSpPr>
          <p:grpSpPr>
            <a:xfrm>
              <a:off x="0" y="1524000"/>
              <a:ext cx="3238500" cy="1333500"/>
              <a:chOff x="0" y="0"/>
              <a:chExt cx="3238500" cy="1333500"/>
            </a:xfrm>
          </p:grpSpPr>
          <p:sp>
            <p:nvSpPr>
              <p:cNvPr id="111" name="Google Shape;111;p2"/>
              <p:cNvSpPr/>
              <p:nvPr/>
            </p:nvSpPr>
            <p:spPr>
              <a:xfrm>
                <a:off x="0" y="0"/>
                <a:ext cx="3238500" cy="1333500"/>
              </a:xfrm>
              <a:prstGeom prst="roundRect">
                <a:avLst>
                  <a:gd fmla="val 857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0" y="0"/>
                <a:ext cx="38100" cy="1333500"/>
              </a:xfrm>
              <a:prstGeom prst="roundRect">
                <a:avLst>
                  <a:gd fmla="val 50000" name="adj"/>
                </a:avLst>
              </a:prstGeom>
              <a:solidFill>
                <a:srgbClr val="EC48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2"/>
              <p:cNvSpPr txBox="1"/>
              <p:nvPr/>
            </p:nvSpPr>
            <p:spPr>
              <a:xfrm>
                <a:off x="190500" y="190500"/>
                <a:ext cx="2857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Y-Intercept (Cake Only)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Max 70 Cakes</a:t>
                </a:r>
                <a:endParaRPr b="1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4,200 mins / 60 mins per cake</a:t>
                </a:r>
                <a:endParaRPr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4" name="Google Shape;114;p2"/>
            <p:cNvGrpSpPr/>
            <p:nvPr/>
          </p:nvGrpSpPr>
          <p:grpSpPr>
            <a:xfrm>
              <a:off x="0" y="3048000"/>
              <a:ext cx="3238500" cy="1333500"/>
              <a:chOff x="0" y="0"/>
              <a:chExt cx="3238500" cy="1333500"/>
            </a:xfrm>
          </p:grpSpPr>
          <p:sp>
            <p:nvSpPr>
              <p:cNvPr id="115" name="Google Shape;115;p2"/>
              <p:cNvSpPr/>
              <p:nvPr/>
            </p:nvSpPr>
            <p:spPr>
              <a:xfrm>
                <a:off x="0" y="0"/>
                <a:ext cx="3238500" cy="1333500"/>
              </a:xfrm>
              <a:prstGeom prst="roundRect">
                <a:avLst>
                  <a:gd fmla="val 857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0" y="0"/>
                <a:ext cx="38100" cy="1333500"/>
              </a:xfrm>
              <a:prstGeom prst="roundRect">
                <a:avLst>
                  <a:gd fmla="val 50000" name="adj"/>
                </a:avLst>
              </a:prstGeom>
              <a:solidFill>
                <a:srgbClr val="EC48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2"/>
              <p:cNvSpPr txBox="1"/>
              <p:nvPr/>
            </p:nvSpPr>
            <p:spPr>
              <a:xfrm>
                <a:off x="190500" y="190500"/>
                <a:ext cx="2857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X-Intercept (Bread Only)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Max 140 Breads</a:t>
                </a:r>
                <a:endParaRPr b="1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4,200 mins / 30 mins per bread</a:t>
                </a:r>
                <a:endParaRPr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8" name="Google Shape;118;p2"/>
          <p:cNvGrpSpPr/>
          <p:nvPr/>
        </p:nvGrpSpPr>
        <p:grpSpPr>
          <a:xfrm>
            <a:off x="4286250" y="762000"/>
            <a:ext cx="4286400" cy="5334000"/>
            <a:chOff x="0" y="0"/>
            <a:chExt cx="4286400" cy="5334000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4286400" cy="5334000"/>
            </a:xfrm>
            <a:prstGeom prst="roundRect">
              <a:avLst>
                <a:gd fmla="val 355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143000" y="857250"/>
              <a:ext cx="2857500" cy="36195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20000" y="0"/>
                  </a:moveTo>
                  <a:lnTo>
                    <a:pt x="20000" y="120000"/>
                  </a:lnTo>
                  <a:moveTo>
                    <a:pt x="40000" y="0"/>
                  </a:moveTo>
                  <a:lnTo>
                    <a:pt x="40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80000" y="0"/>
                  </a:moveTo>
                  <a:lnTo>
                    <a:pt x="80000" y="120000"/>
                  </a:lnTo>
                  <a:moveTo>
                    <a:pt x="100000" y="0"/>
                  </a:moveTo>
                  <a:lnTo>
                    <a:pt x="100000" y="120000"/>
                  </a:lnTo>
                  <a:moveTo>
                    <a:pt x="12000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666750" y="857250"/>
              <a:ext cx="3333900" cy="2895600"/>
            </a:xfrm>
            <a:custGeom>
              <a:rect b="b" l="l" r="r" t="t"/>
              <a:pathLst>
                <a:path extrusionOk="0" fill="none" h="120000" w="120000">
                  <a:moveTo>
                    <a:pt x="0" y="120000"/>
                  </a:moveTo>
                  <a:lnTo>
                    <a:pt x="120000" y="120000"/>
                  </a:lnTo>
                  <a:moveTo>
                    <a:pt x="0" y="90000"/>
                  </a:moveTo>
                  <a:lnTo>
                    <a:pt x="120000" y="9000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30000"/>
                  </a:moveTo>
                  <a:lnTo>
                    <a:pt x="120000" y="30000"/>
                  </a:lnTo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2" name="Google Shape;122;p2"/>
            <p:cNvCxnSpPr/>
            <p:nvPr/>
          </p:nvCxnSpPr>
          <p:spPr>
            <a:xfrm>
              <a:off x="666750" y="4476750"/>
              <a:ext cx="3333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2"/>
            <p:cNvCxnSpPr/>
            <p:nvPr/>
          </p:nvCxnSpPr>
          <p:spPr>
            <a:xfrm rot="10800000">
              <a:off x="666750" y="857250"/>
              <a:ext cx="0" cy="36195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p2"/>
            <p:cNvCxnSpPr/>
            <p:nvPr/>
          </p:nvCxnSpPr>
          <p:spPr>
            <a:xfrm>
              <a:off x="1143000" y="4476750"/>
              <a:ext cx="0" cy="477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2"/>
            <p:cNvCxnSpPr/>
            <p:nvPr/>
          </p:nvCxnSpPr>
          <p:spPr>
            <a:xfrm>
              <a:off x="1619250" y="4476750"/>
              <a:ext cx="0" cy="477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2"/>
            <p:cNvCxnSpPr/>
            <p:nvPr/>
          </p:nvCxnSpPr>
          <p:spPr>
            <a:xfrm>
              <a:off x="2095500" y="4476750"/>
              <a:ext cx="0" cy="477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2"/>
            <p:cNvCxnSpPr/>
            <p:nvPr/>
          </p:nvCxnSpPr>
          <p:spPr>
            <a:xfrm>
              <a:off x="2571750" y="4476750"/>
              <a:ext cx="0" cy="477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"/>
            <p:cNvCxnSpPr/>
            <p:nvPr/>
          </p:nvCxnSpPr>
          <p:spPr>
            <a:xfrm>
              <a:off x="3048000" y="4476750"/>
              <a:ext cx="0" cy="477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"/>
            <p:cNvCxnSpPr/>
            <p:nvPr/>
          </p:nvCxnSpPr>
          <p:spPr>
            <a:xfrm>
              <a:off x="3524250" y="4476750"/>
              <a:ext cx="0" cy="477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2"/>
            <p:cNvCxnSpPr/>
            <p:nvPr/>
          </p:nvCxnSpPr>
          <p:spPr>
            <a:xfrm>
              <a:off x="4000500" y="4476750"/>
              <a:ext cx="0" cy="477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"/>
            <p:cNvCxnSpPr/>
            <p:nvPr/>
          </p:nvCxnSpPr>
          <p:spPr>
            <a:xfrm rot="10800000">
              <a:off x="619050" y="3752850"/>
              <a:ext cx="47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2"/>
            <p:cNvCxnSpPr/>
            <p:nvPr/>
          </p:nvCxnSpPr>
          <p:spPr>
            <a:xfrm rot="10800000">
              <a:off x="619050" y="3028950"/>
              <a:ext cx="47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2"/>
            <p:cNvCxnSpPr/>
            <p:nvPr/>
          </p:nvCxnSpPr>
          <p:spPr>
            <a:xfrm rot="10800000">
              <a:off x="619050" y="2305050"/>
              <a:ext cx="47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2"/>
            <p:cNvCxnSpPr/>
            <p:nvPr/>
          </p:nvCxnSpPr>
          <p:spPr>
            <a:xfrm rot="10800000">
              <a:off x="619050" y="1581150"/>
              <a:ext cx="47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2"/>
            <p:cNvCxnSpPr/>
            <p:nvPr/>
          </p:nvCxnSpPr>
          <p:spPr>
            <a:xfrm rot="10800000">
              <a:off x="619050" y="857250"/>
              <a:ext cx="47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6" name="Google Shape;136;p2"/>
            <p:cNvSpPr txBox="1"/>
            <p:nvPr/>
          </p:nvSpPr>
          <p:spPr>
            <a:xfrm>
              <a:off x="1000125" y="4572000"/>
              <a:ext cx="285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20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1476375" y="4572000"/>
              <a:ext cx="285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40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1952625" y="4572000"/>
              <a:ext cx="285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60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9" name="Google Shape;139;p2"/>
            <p:cNvSpPr txBox="1"/>
            <p:nvPr/>
          </p:nvSpPr>
          <p:spPr>
            <a:xfrm>
              <a:off x="2428875" y="4572000"/>
              <a:ext cx="285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80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0" name="Google Shape;140;p2"/>
            <p:cNvSpPr txBox="1"/>
            <p:nvPr/>
          </p:nvSpPr>
          <p:spPr>
            <a:xfrm>
              <a:off x="2876550" y="4572000"/>
              <a:ext cx="333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100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3352800" y="4572000"/>
              <a:ext cx="333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120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2" name="Google Shape;142;p2"/>
            <p:cNvSpPr txBox="1"/>
            <p:nvPr/>
          </p:nvSpPr>
          <p:spPr>
            <a:xfrm>
              <a:off x="3829050" y="4572000"/>
              <a:ext cx="333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140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3" name="Google Shape;143;p2"/>
            <p:cNvSpPr txBox="1"/>
            <p:nvPr/>
          </p:nvSpPr>
          <p:spPr>
            <a:xfrm>
              <a:off x="333375" y="3657600"/>
              <a:ext cx="238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20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" name="Google Shape;144;p2"/>
            <p:cNvSpPr txBox="1"/>
            <p:nvPr/>
          </p:nvSpPr>
          <p:spPr>
            <a:xfrm>
              <a:off x="333375" y="2933700"/>
              <a:ext cx="238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40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333375" y="2209800"/>
              <a:ext cx="238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60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333375" y="1485900"/>
              <a:ext cx="238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80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238125" y="762000"/>
              <a:ext cx="333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100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666750" y="1943100"/>
              <a:ext cx="3238500" cy="2533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EC4899">
                <a:alpha val="6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9" name="Google Shape;149;p2"/>
            <p:cNvCxnSpPr/>
            <p:nvPr/>
          </p:nvCxnSpPr>
          <p:spPr>
            <a:xfrm>
              <a:off x="666750" y="1943100"/>
              <a:ext cx="3238500" cy="2533800"/>
            </a:xfrm>
            <a:prstGeom prst="straightConnector1">
              <a:avLst/>
            </a:prstGeom>
            <a:solidFill>
              <a:srgbClr val="FFFFFF"/>
            </a:solidFill>
            <a:ln cap="rnd" cmpd="sng" w="42875">
              <a:solidFill>
                <a:srgbClr val="EC489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0" name="Google Shape;150;p2"/>
            <p:cNvSpPr/>
            <p:nvPr/>
          </p:nvSpPr>
          <p:spPr>
            <a:xfrm>
              <a:off x="609600" y="1885950"/>
              <a:ext cx="114300" cy="114300"/>
            </a:xfrm>
            <a:prstGeom prst="ellipse">
              <a:avLst/>
            </a:prstGeom>
            <a:solidFill>
              <a:srgbClr val="EC4899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3848100" y="4419600"/>
              <a:ext cx="114300" cy="114300"/>
            </a:xfrm>
            <a:prstGeom prst="ellipse">
              <a:avLst/>
            </a:prstGeom>
            <a:solidFill>
              <a:srgbClr val="EC4899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"/>
            <p:cNvSpPr txBox="1"/>
            <p:nvPr/>
          </p:nvSpPr>
          <p:spPr>
            <a:xfrm>
              <a:off x="666750" y="4905375"/>
              <a:ext cx="3238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Bread (B)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3" name="Google Shape;153;p2"/>
            <p:cNvSpPr txBox="1"/>
            <p:nvPr/>
          </p:nvSpPr>
          <p:spPr>
            <a:xfrm rot="-5400000">
              <a:off x="-666675" y="16668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Cake (C)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3"/>
          <p:cNvGrpSpPr/>
          <p:nvPr/>
        </p:nvGrpSpPr>
        <p:grpSpPr>
          <a:xfrm>
            <a:off x="1219200" y="1068387"/>
            <a:ext cx="3543300" cy="4748212"/>
            <a:chOff x="768" y="1633"/>
            <a:chExt cx="4016" cy="2015"/>
          </a:xfrm>
        </p:grpSpPr>
        <p:cxnSp>
          <p:nvCxnSpPr>
            <p:cNvPr id="160" name="Google Shape;160;p3"/>
            <p:cNvCxnSpPr/>
            <p:nvPr/>
          </p:nvCxnSpPr>
          <p:spPr>
            <a:xfrm>
              <a:off x="768" y="1633"/>
              <a:ext cx="4016" cy="2015"/>
            </a:xfrm>
            <a:prstGeom prst="straightConnector1">
              <a:avLst/>
            </a:prstGeom>
            <a:noFill/>
            <a:ln cap="flat" cmpd="sng" w="50800">
              <a:solidFill>
                <a:srgbClr val="99009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61" name="Google Shape;161;p3"/>
            <p:cNvGrpSpPr/>
            <p:nvPr/>
          </p:nvGrpSpPr>
          <p:grpSpPr>
            <a:xfrm>
              <a:off x="844" y="1682"/>
              <a:ext cx="3860" cy="1966"/>
              <a:chOff x="844" y="1682"/>
              <a:chExt cx="3860" cy="1966"/>
            </a:xfrm>
          </p:grpSpPr>
          <p:cxnSp>
            <p:nvCxnSpPr>
              <p:cNvPr id="162" name="Google Shape;162;p3"/>
              <p:cNvCxnSpPr/>
              <p:nvPr/>
            </p:nvCxnSpPr>
            <p:spPr>
              <a:xfrm flipH="1">
                <a:off x="928" y="172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63" name="Google Shape;163;p3"/>
              <p:cNvCxnSpPr/>
              <p:nvPr/>
            </p:nvCxnSpPr>
            <p:spPr>
              <a:xfrm flipH="1">
                <a:off x="1024" y="177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64" name="Google Shape;164;p3"/>
              <p:cNvCxnSpPr/>
              <p:nvPr/>
            </p:nvCxnSpPr>
            <p:spPr>
              <a:xfrm flipH="1">
                <a:off x="1120" y="182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65" name="Google Shape;165;p3"/>
              <p:cNvCxnSpPr/>
              <p:nvPr/>
            </p:nvCxnSpPr>
            <p:spPr>
              <a:xfrm flipH="1">
                <a:off x="1216" y="187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66" name="Google Shape;166;p3"/>
              <p:cNvCxnSpPr/>
              <p:nvPr/>
            </p:nvCxnSpPr>
            <p:spPr>
              <a:xfrm flipH="1">
                <a:off x="1312" y="192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67" name="Google Shape;167;p3"/>
              <p:cNvCxnSpPr/>
              <p:nvPr/>
            </p:nvCxnSpPr>
            <p:spPr>
              <a:xfrm flipH="1">
                <a:off x="1408" y="196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68" name="Google Shape;168;p3"/>
              <p:cNvCxnSpPr/>
              <p:nvPr/>
            </p:nvCxnSpPr>
            <p:spPr>
              <a:xfrm flipH="1">
                <a:off x="1504" y="201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69" name="Google Shape;169;p3"/>
              <p:cNvCxnSpPr/>
              <p:nvPr/>
            </p:nvCxnSpPr>
            <p:spPr>
              <a:xfrm flipH="1">
                <a:off x="1600" y="206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70" name="Google Shape;170;p3"/>
              <p:cNvCxnSpPr/>
              <p:nvPr/>
            </p:nvCxnSpPr>
            <p:spPr>
              <a:xfrm flipH="1">
                <a:off x="1696" y="211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71" name="Google Shape;171;p3"/>
              <p:cNvCxnSpPr/>
              <p:nvPr/>
            </p:nvCxnSpPr>
            <p:spPr>
              <a:xfrm flipH="1">
                <a:off x="1792" y="216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72" name="Google Shape;172;p3"/>
              <p:cNvCxnSpPr/>
              <p:nvPr/>
            </p:nvCxnSpPr>
            <p:spPr>
              <a:xfrm flipH="1">
                <a:off x="1888" y="220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73" name="Google Shape;173;p3"/>
              <p:cNvCxnSpPr/>
              <p:nvPr/>
            </p:nvCxnSpPr>
            <p:spPr>
              <a:xfrm flipH="1">
                <a:off x="1984" y="225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74" name="Google Shape;174;p3"/>
              <p:cNvCxnSpPr/>
              <p:nvPr/>
            </p:nvCxnSpPr>
            <p:spPr>
              <a:xfrm flipH="1">
                <a:off x="2080" y="230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75" name="Google Shape;175;p3"/>
              <p:cNvCxnSpPr/>
              <p:nvPr/>
            </p:nvCxnSpPr>
            <p:spPr>
              <a:xfrm flipH="1">
                <a:off x="2176" y="235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76" name="Google Shape;176;p3"/>
              <p:cNvCxnSpPr/>
              <p:nvPr/>
            </p:nvCxnSpPr>
            <p:spPr>
              <a:xfrm flipH="1">
                <a:off x="2272" y="240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77" name="Google Shape;177;p3"/>
              <p:cNvCxnSpPr/>
              <p:nvPr/>
            </p:nvCxnSpPr>
            <p:spPr>
              <a:xfrm flipH="1">
                <a:off x="2368" y="244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78" name="Google Shape;178;p3"/>
              <p:cNvCxnSpPr/>
              <p:nvPr/>
            </p:nvCxnSpPr>
            <p:spPr>
              <a:xfrm flipH="1">
                <a:off x="2464" y="249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79" name="Google Shape;179;p3"/>
              <p:cNvCxnSpPr/>
              <p:nvPr/>
            </p:nvCxnSpPr>
            <p:spPr>
              <a:xfrm flipH="1">
                <a:off x="2560" y="254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80" name="Google Shape;180;p3"/>
              <p:cNvCxnSpPr/>
              <p:nvPr/>
            </p:nvCxnSpPr>
            <p:spPr>
              <a:xfrm flipH="1">
                <a:off x="2656" y="259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81" name="Google Shape;181;p3"/>
              <p:cNvCxnSpPr/>
              <p:nvPr/>
            </p:nvCxnSpPr>
            <p:spPr>
              <a:xfrm flipH="1">
                <a:off x="2752" y="264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82" name="Google Shape;182;p3"/>
              <p:cNvCxnSpPr/>
              <p:nvPr/>
            </p:nvCxnSpPr>
            <p:spPr>
              <a:xfrm flipH="1">
                <a:off x="2848" y="268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83" name="Google Shape;183;p3"/>
              <p:cNvCxnSpPr/>
              <p:nvPr/>
            </p:nvCxnSpPr>
            <p:spPr>
              <a:xfrm flipH="1">
                <a:off x="2944" y="273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84" name="Google Shape;184;p3"/>
              <p:cNvCxnSpPr/>
              <p:nvPr/>
            </p:nvCxnSpPr>
            <p:spPr>
              <a:xfrm flipH="1">
                <a:off x="3040" y="278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85" name="Google Shape;185;p3"/>
              <p:cNvCxnSpPr/>
              <p:nvPr/>
            </p:nvCxnSpPr>
            <p:spPr>
              <a:xfrm flipH="1">
                <a:off x="3136" y="283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86" name="Google Shape;186;p3"/>
              <p:cNvCxnSpPr/>
              <p:nvPr/>
            </p:nvCxnSpPr>
            <p:spPr>
              <a:xfrm flipH="1">
                <a:off x="3232" y="288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87" name="Google Shape;187;p3"/>
              <p:cNvCxnSpPr/>
              <p:nvPr/>
            </p:nvCxnSpPr>
            <p:spPr>
              <a:xfrm flipH="1">
                <a:off x="3328" y="292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88" name="Google Shape;188;p3"/>
              <p:cNvCxnSpPr/>
              <p:nvPr/>
            </p:nvCxnSpPr>
            <p:spPr>
              <a:xfrm flipH="1">
                <a:off x="3424" y="297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89" name="Google Shape;189;p3"/>
              <p:cNvCxnSpPr/>
              <p:nvPr/>
            </p:nvCxnSpPr>
            <p:spPr>
              <a:xfrm flipH="1">
                <a:off x="3520" y="302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90" name="Google Shape;190;p3"/>
              <p:cNvCxnSpPr/>
              <p:nvPr/>
            </p:nvCxnSpPr>
            <p:spPr>
              <a:xfrm flipH="1">
                <a:off x="3616" y="307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91" name="Google Shape;191;p3"/>
              <p:cNvCxnSpPr/>
              <p:nvPr/>
            </p:nvCxnSpPr>
            <p:spPr>
              <a:xfrm flipH="1">
                <a:off x="3712" y="312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92" name="Google Shape;192;p3"/>
              <p:cNvCxnSpPr/>
              <p:nvPr/>
            </p:nvCxnSpPr>
            <p:spPr>
              <a:xfrm flipH="1">
                <a:off x="3808" y="316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93" name="Google Shape;193;p3"/>
              <p:cNvCxnSpPr/>
              <p:nvPr/>
            </p:nvCxnSpPr>
            <p:spPr>
              <a:xfrm flipH="1">
                <a:off x="3904" y="321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94" name="Google Shape;194;p3"/>
              <p:cNvCxnSpPr/>
              <p:nvPr/>
            </p:nvCxnSpPr>
            <p:spPr>
              <a:xfrm flipH="1">
                <a:off x="4000" y="326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95" name="Google Shape;195;p3"/>
              <p:cNvCxnSpPr/>
              <p:nvPr/>
            </p:nvCxnSpPr>
            <p:spPr>
              <a:xfrm flipH="1">
                <a:off x="4096" y="331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96" name="Google Shape;196;p3"/>
              <p:cNvCxnSpPr/>
              <p:nvPr/>
            </p:nvCxnSpPr>
            <p:spPr>
              <a:xfrm flipH="1">
                <a:off x="4192" y="336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97" name="Google Shape;197;p3"/>
              <p:cNvCxnSpPr/>
              <p:nvPr/>
            </p:nvCxnSpPr>
            <p:spPr>
              <a:xfrm flipH="1">
                <a:off x="4288" y="340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98" name="Google Shape;198;p3"/>
              <p:cNvCxnSpPr/>
              <p:nvPr/>
            </p:nvCxnSpPr>
            <p:spPr>
              <a:xfrm flipH="1">
                <a:off x="4384" y="345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99" name="Google Shape;199;p3"/>
              <p:cNvCxnSpPr/>
              <p:nvPr/>
            </p:nvCxnSpPr>
            <p:spPr>
              <a:xfrm flipH="1">
                <a:off x="4480" y="350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00" name="Google Shape;200;p3"/>
              <p:cNvCxnSpPr/>
              <p:nvPr/>
            </p:nvCxnSpPr>
            <p:spPr>
              <a:xfrm flipH="1">
                <a:off x="4576" y="355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01" name="Google Shape;201;p3"/>
              <p:cNvCxnSpPr/>
              <p:nvPr/>
            </p:nvCxnSpPr>
            <p:spPr>
              <a:xfrm flipH="1">
                <a:off x="4672" y="360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02" name="Google Shape;202;p3"/>
              <p:cNvCxnSpPr/>
              <p:nvPr/>
            </p:nvCxnSpPr>
            <p:spPr>
              <a:xfrm flipH="1">
                <a:off x="844" y="168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</p:grpSp>
      </p:grpSp>
      <p:grpSp>
        <p:nvGrpSpPr>
          <p:cNvPr id="203" name="Google Shape;203;p3"/>
          <p:cNvGrpSpPr/>
          <p:nvPr/>
        </p:nvGrpSpPr>
        <p:grpSpPr>
          <a:xfrm>
            <a:off x="1244600" y="2605087"/>
            <a:ext cx="6375400" cy="3198812"/>
            <a:chOff x="768" y="1633"/>
            <a:chExt cx="4016" cy="2015"/>
          </a:xfrm>
        </p:grpSpPr>
        <p:cxnSp>
          <p:nvCxnSpPr>
            <p:cNvPr id="204" name="Google Shape;204;p3"/>
            <p:cNvCxnSpPr/>
            <p:nvPr/>
          </p:nvCxnSpPr>
          <p:spPr>
            <a:xfrm>
              <a:off x="768" y="1633"/>
              <a:ext cx="4016" cy="2015"/>
            </a:xfrm>
            <a:prstGeom prst="straightConnector1">
              <a:avLst/>
            </a:prstGeom>
            <a:noFill/>
            <a:ln cap="flat" cmpd="sng" w="25400">
              <a:solidFill>
                <a:srgbClr val="FF66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205" name="Google Shape;205;p3"/>
            <p:cNvGrpSpPr/>
            <p:nvPr/>
          </p:nvGrpSpPr>
          <p:grpSpPr>
            <a:xfrm>
              <a:off x="844" y="1682"/>
              <a:ext cx="3860" cy="1966"/>
              <a:chOff x="844" y="1682"/>
              <a:chExt cx="3860" cy="1966"/>
            </a:xfrm>
          </p:grpSpPr>
          <p:cxnSp>
            <p:nvCxnSpPr>
              <p:cNvPr id="206" name="Google Shape;206;p3"/>
              <p:cNvCxnSpPr/>
              <p:nvPr/>
            </p:nvCxnSpPr>
            <p:spPr>
              <a:xfrm flipH="1">
                <a:off x="928" y="172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07" name="Google Shape;207;p3"/>
              <p:cNvCxnSpPr/>
              <p:nvPr/>
            </p:nvCxnSpPr>
            <p:spPr>
              <a:xfrm flipH="1">
                <a:off x="1024" y="177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08" name="Google Shape;208;p3"/>
              <p:cNvCxnSpPr/>
              <p:nvPr/>
            </p:nvCxnSpPr>
            <p:spPr>
              <a:xfrm flipH="1">
                <a:off x="1120" y="182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09" name="Google Shape;209;p3"/>
              <p:cNvCxnSpPr/>
              <p:nvPr/>
            </p:nvCxnSpPr>
            <p:spPr>
              <a:xfrm flipH="1">
                <a:off x="1216" y="187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10" name="Google Shape;210;p3"/>
              <p:cNvCxnSpPr/>
              <p:nvPr/>
            </p:nvCxnSpPr>
            <p:spPr>
              <a:xfrm flipH="1">
                <a:off x="1312" y="192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11" name="Google Shape;211;p3"/>
              <p:cNvCxnSpPr/>
              <p:nvPr/>
            </p:nvCxnSpPr>
            <p:spPr>
              <a:xfrm flipH="1">
                <a:off x="1408" y="196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12" name="Google Shape;212;p3"/>
              <p:cNvCxnSpPr/>
              <p:nvPr/>
            </p:nvCxnSpPr>
            <p:spPr>
              <a:xfrm flipH="1">
                <a:off x="1504" y="201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13" name="Google Shape;213;p3"/>
              <p:cNvCxnSpPr/>
              <p:nvPr/>
            </p:nvCxnSpPr>
            <p:spPr>
              <a:xfrm flipH="1">
                <a:off x="1600" y="206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14" name="Google Shape;214;p3"/>
              <p:cNvCxnSpPr/>
              <p:nvPr/>
            </p:nvCxnSpPr>
            <p:spPr>
              <a:xfrm flipH="1">
                <a:off x="1696" y="211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15" name="Google Shape;215;p3"/>
              <p:cNvCxnSpPr/>
              <p:nvPr/>
            </p:nvCxnSpPr>
            <p:spPr>
              <a:xfrm flipH="1">
                <a:off x="1792" y="216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16" name="Google Shape;216;p3"/>
              <p:cNvCxnSpPr/>
              <p:nvPr/>
            </p:nvCxnSpPr>
            <p:spPr>
              <a:xfrm flipH="1">
                <a:off x="1888" y="220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17" name="Google Shape;217;p3"/>
              <p:cNvCxnSpPr/>
              <p:nvPr/>
            </p:nvCxnSpPr>
            <p:spPr>
              <a:xfrm flipH="1">
                <a:off x="1984" y="225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18" name="Google Shape;218;p3"/>
              <p:cNvCxnSpPr/>
              <p:nvPr/>
            </p:nvCxnSpPr>
            <p:spPr>
              <a:xfrm flipH="1">
                <a:off x="2080" y="230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19" name="Google Shape;219;p3"/>
              <p:cNvCxnSpPr/>
              <p:nvPr/>
            </p:nvCxnSpPr>
            <p:spPr>
              <a:xfrm flipH="1">
                <a:off x="2176" y="235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20" name="Google Shape;220;p3"/>
              <p:cNvCxnSpPr/>
              <p:nvPr/>
            </p:nvCxnSpPr>
            <p:spPr>
              <a:xfrm flipH="1">
                <a:off x="2272" y="240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21" name="Google Shape;221;p3"/>
              <p:cNvCxnSpPr/>
              <p:nvPr/>
            </p:nvCxnSpPr>
            <p:spPr>
              <a:xfrm flipH="1">
                <a:off x="2368" y="244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22" name="Google Shape;222;p3"/>
              <p:cNvCxnSpPr/>
              <p:nvPr/>
            </p:nvCxnSpPr>
            <p:spPr>
              <a:xfrm flipH="1">
                <a:off x="2464" y="249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23" name="Google Shape;223;p3"/>
              <p:cNvCxnSpPr/>
              <p:nvPr/>
            </p:nvCxnSpPr>
            <p:spPr>
              <a:xfrm flipH="1">
                <a:off x="2560" y="254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24" name="Google Shape;224;p3"/>
              <p:cNvCxnSpPr/>
              <p:nvPr/>
            </p:nvCxnSpPr>
            <p:spPr>
              <a:xfrm flipH="1">
                <a:off x="2656" y="259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25" name="Google Shape;225;p3"/>
              <p:cNvCxnSpPr/>
              <p:nvPr/>
            </p:nvCxnSpPr>
            <p:spPr>
              <a:xfrm flipH="1">
                <a:off x="2752" y="264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26" name="Google Shape;226;p3"/>
              <p:cNvCxnSpPr/>
              <p:nvPr/>
            </p:nvCxnSpPr>
            <p:spPr>
              <a:xfrm flipH="1">
                <a:off x="2848" y="268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27" name="Google Shape;227;p3"/>
              <p:cNvCxnSpPr/>
              <p:nvPr/>
            </p:nvCxnSpPr>
            <p:spPr>
              <a:xfrm flipH="1">
                <a:off x="2944" y="273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28" name="Google Shape;228;p3"/>
              <p:cNvCxnSpPr/>
              <p:nvPr/>
            </p:nvCxnSpPr>
            <p:spPr>
              <a:xfrm flipH="1">
                <a:off x="3040" y="278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29" name="Google Shape;229;p3"/>
              <p:cNvCxnSpPr/>
              <p:nvPr/>
            </p:nvCxnSpPr>
            <p:spPr>
              <a:xfrm flipH="1">
                <a:off x="3136" y="283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30" name="Google Shape;230;p3"/>
              <p:cNvCxnSpPr/>
              <p:nvPr/>
            </p:nvCxnSpPr>
            <p:spPr>
              <a:xfrm flipH="1">
                <a:off x="3232" y="288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31" name="Google Shape;231;p3"/>
              <p:cNvCxnSpPr/>
              <p:nvPr/>
            </p:nvCxnSpPr>
            <p:spPr>
              <a:xfrm flipH="1">
                <a:off x="3328" y="292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32" name="Google Shape;232;p3"/>
              <p:cNvCxnSpPr/>
              <p:nvPr/>
            </p:nvCxnSpPr>
            <p:spPr>
              <a:xfrm flipH="1">
                <a:off x="3424" y="297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33" name="Google Shape;233;p3"/>
              <p:cNvCxnSpPr/>
              <p:nvPr/>
            </p:nvCxnSpPr>
            <p:spPr>
              <a:xfrm flipH="1">
                <a:off x="3520" y="302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34" name="Google Shape;234;p3"/>
              <p:cNvCxnSpPr/>
              <p:nvPr/>
            </p:nvCxnSpPr>
            <p:spPr>
              <a:xfrm flipH="1">
                <a:off x="3616" y="307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35" name="Google Shape;235;p3"/>
              <p:cNvCxnSpPr/>
              <p:nvPr/>
            </p:nvCxnSpPr>
            <p:spPr>
              <a:xfrm flipH="1">
                <a:off x="3712" y="312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36" name="Google Shape;236;p3"/>
              <p:cNvCxnSpPr/>
              <p:nvPr/>
            </p:nvCxnSpPr>
            <p:spPr>
              <a:xfrm flipH="1">
                <a:off x="3808" y="316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37" name="Google Shape;237;p3"/>
              <p:cNvCxnSpPr/>
              <p:nvPr/>
            </p:nvCxnSpPr>
            <p:spPr>
              <a:xfrm flipH="1">
                <a:off x="3904" y="321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38" name="Google Shape;238;p3"/>
              <p:cNvCxnSpPr/>
              <p:nvPr/>
            </p:nvCxnSpPr>
            <p:spPr>
              <a:xfrm flipH="1">
                <a:off x="4000" y="326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39" name="Google Shape;239;p3"/>
              <p:cNvCxnSpPr/>
              <p:nvPr/>
            </p:nvCxnSpPr>
            <p:spPr>
              <a:xfrm flipH="1">
                <a:off x="4096" y="331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40" name="Google Shape;240;p3"/>
              <p:cNvCxnSpPr/>
              <p:nvPr/>
            </p:nvCxnSpPr>
            <p:spPr>
              <a:xfrm flipH="1">
                <a:off x="4192" y="336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41" name="Google Shape;241;p3"/>
              <p:cNvCxnSpPr/>
              <p:nvPr/>
            </p:nvCxnSpPr>
            <p:spPr>
              <a:xfrm flipH="1">
                <a:off x="4288" y="340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42" name="Google Shape;242;p3"/>
              <p:cNvCxnSpPr/>
              <p:nvPr/>
            </p:nvCxnSpPr>
            <p:spPr>
              <a:xfrm flipH="1">
                <a:off x="4384" y="345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43" name="Google Shape;243;p3"/>
              <p:cNvCxnSpPr/>
              <p:nvPr/>
            </p:nvCxnSpPr>
            <p:spPr>
              <a:xfrm flipH="1">
                <a:off x="4480" y="350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44" name="Google Shape;244;p3"/>
              <p:cNvCxnSpPr/>
              <p:nvPr/>
            </p:nvCxnSpPr>
            <p:spPr>
              <a:xfrm flipH="1">
                <a:off x="4576" y="355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45" name="Google Shape;245;p3"/>
              <p:cNvCxnSpPr/>
              <p:nvPr/>
            </p:nvCxnSpPr>
            <p:spPr>
              <a:xfrm flipH="1">
                <a:off x="4672" y="360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246" name="Google Shape;246;p3"/>
              <p:cNvCxnSpPr/>
              <p:nvPr/>
            </p:nvCxnSpPr>
            <p:spPr>
              <a:xfrm flipH="1">
                <a:off x="844" y="168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</p:grpSp>
      </p:grpSp>
      <p:cxnSp>
        <p:nvCxnSpPr>
          <p:cNvPr id="247" name="Google Shape;247;p3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48" name="Google Shape;248;p3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49" name="Google Shape;249;p3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250" name="Google Shape;250;p3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251" name="Google Shape;251;p3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252" name="Google Shape;252;p3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53" name="Google Shape;253;p3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254" name="Google Shape;254;p3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255" name="Google Shape;255;p3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256" name="Google Shape;256;p3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257" name="Google Shape;257;p3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258" name="Google Shape;258;p3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259" name="Google Shape;259;p3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260" name="Google Shape;260;p3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261" name="Google Shape;261;p3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62" name="Google Shape;262;p3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63" name="Google Shape;263;p3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64" name="Google Shape;264;p3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65" name="Google Shape;265;p3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66" name="Google Shape;266;p3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67" name="Google Shape;267;p3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68" name="Google Shape;268;p3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69" name="Google Shape;269;p3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0" name="Google Shape;270;p3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1" name="Google Shape;271;p3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2" name="Google Shape;272;p3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3" name="Google Shape;273;p3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4" name="Google Shape;274;p3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5" name="Google Shape;275;p3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76" name="Google Shape;276;p3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277" name="Google Shape;277;p3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278" name="Google Shape;278;p3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279" name="Google Shape;279;p3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280" name="Google Shape;280;p3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281" name="Google Shape;281;p3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282" name="Google Shape;282;p3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283" name="Google Shape;283;p3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284" name="Google Shape;284;p3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5" name="Google Shape;285;p3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6" name="Google Shape;286;p3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7" name="Google Shape;287;p3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8" name="Google Shape;288;p3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9" name="Google Shape;289;p3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0" name="Google Shape;290;p3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1" name="Google Shape;291;p3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2" name="Google Shape;292;p3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3" name="Google Shape;293;p3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4" name="Google Shape;294;p3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5" name="Google Shape;295;p3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6" name="Google Shape;296;p3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7" name="Google Shape;297;p3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8" name="Google Shape;298;p3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9" name="Google Shape;299;p3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0" name="Google Shape;300;p3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1" name="Google Shape;301;p3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2" name="Google Shape;302;p3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3" name="Google Shape;303;p3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4" name="Google Shape;304;p3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5" name="Google Shape;305;p3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6" name="Google Shape;306;p3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7" name="Google Shape;307;p3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8" name="Google Shape;308;p3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9" name="Google Shape;309;p3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0" name="Google Shape;310;p3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1" name="Google Shape;311;p3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2" name="Google Shape;312;p3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3" name="Google Shape;313;p3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4" name="Google Shape;314;p3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5" name="Google Shape;315;p3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6" name="Google Shape;316;p3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7" name="Google Shape;317;p3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8" name="Google Shape;318;p3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319" name="Google Shape;319;p3"/>
          <p:cNvGrpSpPr/>
          <p:nvPr/>
        </p:nvGrpSpPr>
        <p:grpSpPr>
          <a:xfrm>
            <a:off x="1295400" y="838200"/>
            <a:ext cx="6680200" cy="4953000"/>
            <a:chOff x="816" y="528"/>
            <a:chExt cx="4208" cy="3120"/>
          </a:xfrm>
        </p:grpSpPr>
        <p:cxnSp>
          <p:nvCxnSpPr>
            <p:cNvPr id="320" name="Google Shape;320;p3"/>
            <p:cNvCxnSpPr/>
            <p:nvPr/>
          </p:nvCxnSpPr>
          <p:spPr>
            <a:xfrm rot="10800000">
              <a:off x="816" y="672"/>
              <a:ext cx="576" cy="48"/>
            </a:xfrm>
            <a:prstGeom prst="straightConnector1">
              <a:avLst/>
            </a:prstGeom>
            <a:noFill/>
            <a:ln cap="flat" cmpd="sng" w="38100">
              <a:solidFill>
                <a:srgbClr val="990099"/>
              </a:solidFill>
              <a:prstDash val="solid"/>
              <a:miter lim="800000"/>
              <a:headEnd len="med" w="med" type="none"/>
              <a:tailEnd len="lg" w="lg" type="triangle"/>
            </a:ln>
          </p:spPr>
        </p:cxnSp>
        <p:sp>
          <p:nvSpPr>
            <p:cNvPr id="321" name="Google Shape;321;p3"/>
            <p:cNvSpPr txBox="1"/>
            <p:nvPr/>
          </p:nvSpPr>
          <p:spPr>
            <a:xfrm>
              <a:off x="1440" y="528"/>
              <a:ext cx="1920" cy="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0099"/>
                </a:buClr>
                <a:buSzPts val="2800"/>
                <a:buFont typeface="Arial"/>
                <a:buNone/>
              </a:pPr>
              <a:r>
                <a:rPr b="1" i="0" lang="en-US" sz="2800" u="none">
                  <a:solidFill>
                    <a:srgbClr val="990099"/>
                  </a:solidFill>
                  <a:latin typeface="Arial"/>
                  <a:ea typeface="Arial"/>
                  <a:cs typeface="Arial"/>
                  <a:sym typeface="Arial"/>
                </a:rPr>
                <a:t>At most 4650 /45 = 103.3 cakes</a:t>
              </a:r>
              <a:endParaRPr/>
            </a:p>
          </p:txBody>
        </p:sp>
        <p:sp>
          <p:nvSpPr>
            <p:cNvPr id="322" name="Google Shape;322;p3"/>
            <p:cNvSpPr txBox="1"/>
            <p:nvPr/>
          </p:nvSpPr>
          <p:spPr>
            <a:xfrm>
              <a:off x="3024" y="2352"/>
              <a:ext cx="2000" cy="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0099"/>
                </a:buClr>
                <a:buSzPts val="2800"/>
                <a:buFont typeface="Arial"/>
                <a:buNone/>
              </a:pPr>
              <a:r>
                <a:rPr b="1" i="0" lang="en-US" sz="2800" u="none">
                  <a:solidFill>
                    <a:srgbClr val="990099"/>
                  </a:solidFill>
                  <a:latin typeface="Arial"/>
                  <a:ea typeface="Arial"/>
                  <a:cs typeface="Arial"/>
                  <a:sym typeface="Arial"/>
                </a:rPr>
                <a:t>At most 4650 / 60 =  77.5 breads</a:t>
              </a:r>
              <a:endParaRPr/>
            </a:p>
          </p:txBody>
        </p:sp>
        <p:cxnSp>
          <p:nvCxnSpPr>
            <p:cNvPr id="323" name="Google Shape;323;p3"/>
            <p:cNvCxnSpPr/>
            <p:nvPr/>
          </p:nvCxnSpPr>
          <p:spPr>
            <a:xfrm flipH="1">
              <a:off x="3006" y="2880"/>
              <a:ext cx="834" cy="768"/>
            </a:xfrm>
            <a:prstGeom prst="straightConnector1">
              <a:avLst/>
            </a:prstGeom>
            <a:noFill/>
            <a:ln cap="flat" cmpd="sng" w="38100">
              <a:solidFill>
                <a:srgbClr val="990099"/>
              </a:solidFill>
              <a:prstDash val="solid"/>
              <a:miter lim="800000"/>
              <a:headEnd len="med" w="med" type="none"/>
              <a:tailEnd len="lg" w="lg" type="triangle"/>
            </a:ln>
          </p:spPr>
        </p:cxnSp>
      </p:grpSp>
      <p:sp>
        <p:nvSpPr>
          <p:cNvPr id="324" name="Google Shape;324;p3"/>
          <p:cNvSpPr txBox="1"/>
          <p:nvPr/>
        </p:nvSpPr>
        <p:spPr>
          <a:xfrm>
            <a:off x="2727325" y="2514600"/>
            <a:ext cx="573087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Oven 60B + 45C ≤ 4650</a:t>
            </a:r>
            <a:endParaRPr/>
          </a:p>
        </p:txBody>
      </p:sp>
      <p:sp>
        <p:nvSpPr>
          <p:cNvPr id="325" name="Google Shape;325;p3"/>
          <p:cNvSpPr txBox="1"/>
          <p:nvPr/>
        </p:nvSpPr>
        <p:spPr>
          <a:xfrm>
            <a:off x="5715000" y="533400"/>
            <a:ext cx="27416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66FF"/>
                </a:solidFill>
                <a:latin typeface="Arial"/>
                <a:ea typeface="Arial"/>
                <a:cs typeface="Arial"/>
                <a:sym typeface="Arial"/>
              </a:rPr>
              <a:t>Labor 30B + 60C ≤ 4200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4"/>
          <p:cNvGrpSpPr/>
          <p:nvPr/>
        </p:nvGrpSpPr>
        <p:grpSpPr>
          <a:xfrm>
            <a:off x="1219200" y="3060700"/>
            <a:ext cx="3549650" cy="2743200"/>
            <a:chOff x="768" y="1928"/>
            <a:chExt cx="2236" cy="1728"/>
          </a:xfrm>
        </p:grpSpPr>
        <p:sp>
          <p:nvSpPr>
            <p:cNvPr id="332" name="Google Shape;332;p4"/>
            <p:cNvSpPr/>
            <p:nvPr/>
          </p:nvSpPr>
          <p:spPr>
            <a:xfrm>
              <a:off x="768" y="1928"/>
              <a:ext cx="2236" cy="1728"/>
            </a:xfrm>
            <a:custGeom>
              <a:rect b="b" l="l" r="r" t="t"/>
              <a:pathLst>
                <a:path extrusionOk="0" h="1728" w="2236">
                  <a:moveTo>
                    <a:pt x="0" y="0"/>
                  </a:moveTo>
                  <a:lnTo>
                    <a:pt x="580" y="0"/>
                  </a:lnTo>
                  <a:lnTo>
                    <a:pt x="1152" y="284"/>
                  </a:lnTo>
                  <a:lnTo>
                    <a:pt x="2236" y="1728"/>
                  </a:lnTo>
                  <a:lnTo>
                    <a:pt x="0" y="1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"/>
            <p:cNvSpPr txBox="1"/>
            <p:nvPr/>
          </p:nvSpPr>
          <p:spPr>
            <a:xfrm rot="2640000">
              <a:off x="870" y="2643"/>
              <a:ext cx="1209" cy="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Arial"/>
                <a:buNone/>
              </a:pPr>
              <a:r>
                <a:rPr b="1" i="0" lang="en-US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Feasible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Arial"/>
                <a:buNone/>
              </a:pPr>
              <a:r>
                <a:rPr b="1" i="0" lang="en-US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Set</a:t>
              </a:r>
              <a:endParaRPr/>
            </a:p>
          </p:txBody>
        </p:sp>
      </p:grpSp>
      <p:cxnSp>
        <p:nvCxnSpPr>
          <p:cNvPr id="334" name="Google Shape;334;p4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35" name="Google Shape;335;p4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36" name="Google Shape;336;p4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337" name="Google Shape;337;p4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338" name="Google Shape;338;p4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339" name="Google Shape;339;p4"/>
          <p:cNvSpPr txBox="1"/>
          <p:nvPr/>
        </p:nvSpPr>
        <p:spPr>
          <a:xfrm>
            <a:off x="5487987" y="838200"/>
            <a:ext cx="27416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66FF"/>
                </a:solidFill>
                <a:latin typeface="Arial"/>
                <a:ea typeface="Arial"/>
                <a:cs typeface="Arial"/>
                <a:sym typeface="Arial"/>
              </a:rPr>
              <a:t>Labor 30B + 60C ≤ 4200</a:t>
            </a:r>
            <a:endParaRPr/>
          </a:p>
        </p:txBody>
      </p:sp>
      <p:sp>
        <p:nvSpPr>
          <p:cNvPr id="340" name="Google Shape;340;p4"/>
          <p:cNvSpPr txBox="1"/>
          <p:nvPr/>
        </p:nvSpPr>
        <p:spPr>
          <a:xfrm>
            <a:off x="5487987" y="1295400"/>
            <a:ext cx="26781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Oven 60B + 45C ≤ 4650</a:t>
            </a:r>
            <a:endParaRPr/>
          </a:p>
        </p:txBody>
      </p:sp>
      <p:grpSp>
        <p:nvGrpSpPr>
          <p:cNvPr id="341" name="Google Shape;341;p4"/>
          <p:cNvGrpSpPr/>
          <p:nvPr/>
        </p:nvGrpSpPr>
        <p:grpSpPr>
          <a:xfrm>
            <a:off x="1018323" y="187640"/>
            <a:ext cx="7132753" cy="5744533"/>
            <a:chOff x="641" y="118"/>
            <a:chExt cx="4493" cy="3619"/>
          </a:xfrm>
        </p:grpSpPr>
        <p:grpSp>
          <p:nvGrpSpPr>
            <p:cNvPr id="342" name="Google Shape;342;p4"/>
            <p:cNvGrpSpPr/>
            <p:nvPr/>
          </p:nvGrpSpPr>
          <p:grpSpPr>
            <a:xfrm rot="-1620000">
              <a:off x="880" y="920"/>
              <a:ext cx="4016" cy="2015"/>
              <a:chOff x="768" y="1633"/>
              <a:chExt cx="4016" cy="2015"/>
            </a:xfrm>
          </p:grpSpPr>
          <p:cxnSp>
            <p:nvCxnSpPr>
              <p:cNvPr id="343" name="Google Shape;343;p4"/>
              <p:cNvCxnSpPr/>
              <p:nvPr/>
            </p:nvCxnSpPr>
            <p:spPr>
              <a:xfrm>
                <a:off x="768" y="1633"/>
                <a:ext cx="4016" cy="2015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grpSp>
            <p:nvGrpSpPr>
              <p:cNvPr id="344" name="Google Shape;344;p4"/>
              <p:cNvGrpSpPr/>
              <p:nvPr/>
            </p:nvGrpSpPr>
            <p:grpSpPr>
              <a:xfrm>
                <a:off x="844" y="1682"/>
                <a:ext cx="3860" cy="1966"/>
                <a:chOff x="844" y="1682"/>
                <a:chExt cx="3860" cy="1966"/>
              </a:xfrm>
            </p:grpSpPr>
            <p:cxnSp>
              <p:nvCxnSpPr>
                <p:cNvPr id="345" name="Google Shape;345;p4"/>
                <p:cNvCxnSpPr/>
                <p:nvPr/>
              </p:nvCxnSpPr>
              <p:spPr>
                <a:xfrm flipH="1">
                  <a:off x="928" y="172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46" name="Google Shape;346;p4"/>
                <p:cNvCxnSpPr/>
                <p:nvPr/>
              </p:nvCxnSpPr>
              <p:spPr>
                <a:xfrm flipH="1">
                  <a:off x="1024" y="177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47" name="Google Shape;347;p4"/>
                <p:cNvCxnSpPr/>
                <p:nvPr/>
              </p:nvCxnSpPr>
              <p:spPr>
                <a:xfrm flipH="1">
                  <a:off x="1120" y="182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48" name="Google Shape;348;p4"/>
                <p:cNvCxnSpPr/>
                <p:nvPr/>
              </p:nvCxnSpPr>
              <p:spPr>
                <a:xfrm flipH="1">
                  <a:off x="1216" y="187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49" name="Google Shape;349;p4"/>
                <p:cNvCxnSpPr/>
                <p:nvPr/>
              </p:nvCxnSpPr>
              <p:spPr>
                <a:xfrm flipH="1">
                  <a:off x="1312" y="192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50" name="Google Shape;350;p4"/>
                <p:cNvCxnSpPr/>
                <p:nvPr/>
              </p:nvCxnSpPr>
              <p:spPr>
                <a:xfrm flipH="1">
                  <a:off x="1408" y="196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51" name="Google Shape;351;p4"/>
                <p:cNvCxnSpPr/>
                <p:nvPr/>
              </p:nvCxnSpPr>
              <p:spPr>
                <a:xfrm flipH="1">
                  <a:off x="1504" y="201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52" name="Google Shape;352;p4"/>
                <p:cNvCxnSpPr/>
                <p:nvPr/>
              </p:nvCxnSpPr>
              <p:spPr>
                <a:xfrm flipH="1">
                  <a:off x="1600" y="206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53" name="Google Shape;353;p4"/>
                <p:cNvCxnSpPr/>
                <p:nvPr/>
              </p:nvCxnSpPr>
              <p:spPr>
                <a:xfrm flipH="1">
                  <a:off x="1696" y="211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54" name="Google Shape;354;p4"/>
                <p:cNvCxnSpPr/>
                <p:nvPr/>
              </p:nvCxnSpPr>
              <p:spPr>
                <a:xfrm flipH="1">
                  <a:off x="1792" y="216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55" name="Google Shape;355;p4"/>
                <p:cNvCxnSpPr/>
                <p:nvPr/>
              </p:nvCxnSpPr>
              <p:spPr>
                <a:xfrm flipH="1">
                  <a:off x="1888" y="220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56" name="Google Shape;356;p4"/>
                <p:cNvCxnSpPr/>
                <p:nvPr/>
              </p:nvCxnSpPr>
              <p:spPr>
                <a:xfrm flipH="1">
                  <a:off x="1984" y="225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57" name="Google Shape;357;p4"/>
                <p:cNvCxnSpPr/>
                <p:nvPr/>
              </p:nvCxnSpPr>
              <p:spPr>
                <a:xfrm flipH="1">
                  <a:off x="2080" y="230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58" name="Google Shape;358;p4"/>
                <p:cNvCxnSpPr/>
                <p:nvPr/>
              </p:nvCxnSpPr>
              <p:spPr>
                <a:xfrm flipH="1">
                  <a:off x="2176" y="235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59" name="Google Shape;359;p4"/>
                <p:cNvCxnSpPr/>
                <p:nvPr/>
              </p:nvCxnSpPr>
              <p:spPr>
                <a:xfrm flipH="1">
                  <a:off x="2272" y="240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60" name="Google Shape;360;p4"/>
                <p:cNvCxnSpPr/>
                <p:nvPr/>
              </p:nvCxnSpPr>
              <p:spPr>
                <a:xfrm flipH="1">
                  <a:off x="2368" y="244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61" name="Google Shape;361;p4"/>
                <p:cNvCxnSpPr/>
                <p:nvPr/>
              </p:nvCxnSpPr>
              <p:spPr>
                <a:xfrm flipH="1">
                  <a:off x="2464" y="249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62" name="Google Shape;362;p4"/>
                <p:cNvCxnSpPr/>
                <p:nvPr/>
              </p:nvCxnSpPr>
              <p:spPr>
                <a:xfrm flipH="1">
                  <a:off x="2560" y="254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63" name="Google Shape;363;p4"/>
                <p:cNvCxnSpPr/>
                <p:nvPr/>
              </p:nvCxnSpPr>
              <p:spPr>
                <a:xfrm flipH="1">
                  <a:off x="2656" y="259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64" name="Google Shape;364;p4"/>
                <p:cNvCxnSpPr/>
                <p:nvPr/>
              </p:nvCxnSpPr>
              <p:spPr>
                <a:xfrm flipH="1">
                  <a:off x="2752" y="264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65" name="Google Shape;365;p4"/>
                <p:cNvCxnSpPr/>
                <p:nvPr/>
              </p:nvCxnSpPr>
              <p:spPr>
                <a:xfrm flipH="1">
                  <a:off x="2848" y="268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66" name="Google Shape;366;p4"/>
                <p:cNvCxnSpPr/>
                <p:nvPr/>
              </p:nvCxnSpPr>
              <p:spPr>
                <a:xfrm flipH="1">
                  <a:off x="2944" y="273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67" name="Google Shape;367;p4"/>
                <p:cNvCxnSpPr/>
                <p:nvPr/>
              </p:nvCxnSpPr>
              <p:spPr>
                <a:xfrm flipH="1">
                  <a:off x="3040" y="278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68" name="Google Shape;368;p4"/>
                <p:cNvCxnSpPr/>
                <p:nvPr/>
              </p:nvCxnSpPr>
              <p:spPr>
                <a:xfrm flipH="1">
                  <a:off x="3136" y="283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69" name="Google Shape;369;p4"/>
                <p:cNvCxnSpPr/>
                <p:nvPr/>
              </p:nvCxnSpPr>
              <p:spPr>
                <a:xfrm flipH="1">
                  <a:off x="3232" y="288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70" name="Google Shape;370;p4"/>
                <p:cNvCxnSpPr/>
                <p:nvPr/>
              </p:nvCxnSpPr>
              <p:spPr>
                <a:xfrm flipH="1">
                  <a:off x="3328" y="292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71" name="Google Shape;371;p4"/>
                <p:cNvCxnSpPr/>
                <p:nvPr/>
              </p:nvCxnSpPr>
              <p:spPr>
                <a:xfrm flipH="1">
                  <a:off x="3424" y="297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72" name="Google Shape;372;p4"/>
                <p:cNvCxnSpPr/>
                <p:nvPr/>
              </p:nvCxnSpPr>
              <p:spPr>
                <a:xfrm flipH="1">
                  <a:off x="3520" y="302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73" name="Google Shape;373;p4"/>
                <p:cNvCxnSpPr/>
                <p:nvPr/>
              </p:nvCxnSpPr>
              <p:spPr>
                <a:xfrm flipH="1">
                  <a:off x="3616" y="307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74" name="Google Shape;374;p4"/>
                <p:cNvCxnSpPr/>
                <p:nvPr/>
              </p:nvCxnSpPr>
              <p:spPr>
                <a:xfrm flipH="1">
                  <a:off x="3712" y="312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75" name="Google Shape;375;p4"/>
                <p:cNvCxnSpPr/>
                <p:nvPr/>
              </p:nvCxnSpPr>
              <p:spPr>
                <a:xfrm flipH="1">
                  <a:off x="3808" y="316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76" name="Google Shape;376;p4"/>
                <p:cNvCxnSpPr/>
                <p:nvPr/>
              </p:nvCxnSpPr>
              <p:spPr>
                <a:xfrm flipH="1">
                  <a:off x="3904" y="321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77" name="Google Shape;377;p4"/>
                <p:cNvCxnSpPr/>
                <p:nvPr/>
              </p:nvCxnSpPr>
              <p:spPr>
                <a:xfrm flipH="1">
                  <a:off x="4000" y="326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78" name="Google Shape;378;p4"/>
                <p:cNvCxnSpPr/>
                <p:nvPr/>
              </p:nvCxnSpPr>
              <p:spPr>
                <a:xfrm flipH="1">
                  <a:off x="4096" y="331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79" name="Google Shape;379;p4"/>
                <p:cNvCxnSpPr/>
                <p:nvPr/>
              </p:nvCxnSpPr>
              <p:spPr>
                <a:xfrm flipH="1">
                  <a:off x="4192" y="336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80" name="Google Shape;380;p4"/>
                <p:cNvCxnSpPr/>
                <p:nvPr/>
              </p:nvCxnSpPr>
              <p:spPr>
                <a:xfrm flipH="1">
                  <a:off x="4288" y="340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81" name="Google Shape;381;p4"/>
                <p:cNvCxnSpPr/>
                <p:nvPr/>
              </p:nvCxnSpPr>
              <p:spPr>
                <a:xfrm flipH="1">
                  <a:off x="4384" y="345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82" name="Google Shape;382;p4"/>
                <p:cNvCxnSpPr/>
                <p:nvPr/>
              </p:nvCxnSpPr>
              <p:spPr>
                <a:xfrm flipH="1">
                  <a:off x="4480" y="350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83" name="Google Shape;383;p4"/>
                <p:cNvCxnSpPr/>
                <p:nvPr/>
              </p:nvCxnSpPr>
              <p:spPr>
                <a:xfrm flipH="1">
                  <a:off x="4576" y="355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84" name="Google Shape;384;p4"/>
                <p:cNvCxnSpPr/>
                <p:nvPr/>
              </p:nvCxnSpPr>
              <p:spPr>
                <a:xfrm flipH="1">
                  <a:off x="4672" y="360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385" name="Google Shape;385;p4"/>
                <p:cNvCxnSpPr/>
                <p:nvPr/>
              </p:nvCxnSpPr>
              <p:spPr>
                <a:xfrm flipH="1">
                  <a:off x="844" y="168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</p:grpSp>
        </p:grpSp>
        <p:sp>
          <p:nvSpPr>
            <p:cNvPr id="386" name="Google Shape;386;p4"/>
            <p:cNvSpPr txBox="1"/>
            <p:nvPr/>
          </p:nvSpPr>
          <p:spPr>
            <a:xfrm>
              <a:off x="3457" y="1383"/>
              <a:ext cx="118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Demand C  ≤ 60</a:t>
              </a:r>
              <a:endParaRPr/>
            </a:p>
          </p:txBody>
        </p:sp>
      </p:grpSp>
      <p:cxnSp>
        <p:nvCxnSpPr>
          <p:cNvPr id="387" name="Google Shape;387;p4"/>
          <p:cNvCxnSpPr/>
          <p:nvPr/>
        </p:nvCxnSpPr>
        <p:spPr>
          <a:xfrm>
            <a:off x="1219200" y="25923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00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88" name="Google Shape;388;p4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89" name="Google Shape;389;p4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390" name="Google Shape;390;p4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391" name="Google Shape;391;p4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392" name="Google Shape;392;p4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393" name="Google Shape;393;p4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394" name="Google Shape;394;p4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395" name="Google Shape;395;p4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396" name="Google Shape;396;p4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397" name="Google Shape;397;p4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8" name="Google Shape;398;p4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9" name="Google Shape;399;p4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0" name="Google Shape;400;p4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1" name="Google Shape;401;p4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2" name="Google Shape;402;p4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3" name="Google Shape;403;p4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4" name="Google Shape;404;p4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5" name="Google Shape;405;p4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6" name="Google Shape;406;p4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7" name="Google Shape;407;p4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8" name="Google Shape;408;p4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9" name="Google Shape;409;p4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10" name="Google Shape;410;p4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11" name="Google Shape;411;p4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12" name="Google Shape;412;p4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413" name="Google Shape;413;p4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414" name="Google Shape;414;p4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415" name="Google Shape;415;p4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416" name="Google Shape;416;p4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417" name="Google Shape;417;p4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418" name="Google Shape;418;p4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419" name="Google Shape;419;p4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420" name="Google Shape;420;p4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1" name="Google Shape;421;p4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2" name="Google Shape;422;p4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3" name="Google Shape;423;p4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4" name="Google Shape;424;p4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5" name="Google Shape;425;p4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6" name="Google Shape;426;p4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7" name="Google Shape;427;p4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8" name="Google Shape;428;p4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9" name="Google Shape;429;p4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0" name="Google Shape;430;p4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1" name="Google Shape;431;p4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2" name="Google Shape;432;p4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3" name="Google Shape;433;p4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4" name="Google Shape;434;p4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5" name="Google Shape;435;p4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6" name="Google Shape;436;p4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7" name="Google Shape;437;p4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8" name="Google Shape;438;p4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9" name="Google Shape;439;p4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40" name="Google Shape;440;p4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41" name="Google Shape;441;p4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42" name="Google Shape;442;p4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43" name="Google Shape;443;p4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44" name="Google Shape;444;p4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45" name="Google Shape;445;p4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46" name="Google Shape;446;p4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47" name="Google Shape;447;p4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48" name="Google Shape;448;p4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49" name="Google Shape;449;p4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50" name="Google Shape;450;p4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51" name="Google Shape;451;p4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52" name="Google Shape;452;p4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53" name="Google Shape;453;p4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54" name="Google Shape;454;p4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455" name="Google Shape;455;p4"/>
          <p:cNvGrpSpPr/>
          <p:nvPr/>
        </p:nvGrpSpPr>
        <p:grpSpPr>
          <a:xfrm>
            <a:off x="1244600" y="2605087"/>
            <a:ext cx="6375400" cy="3198812"/>
            <a:chOff x="768" y="1633"/>
            <a:chExt cx="4016" cy="2015"/>
          </a:xfrm>
        </p:grpSpPr>
        <p:cxnSp>
          <p:nvCxnSpPr>
            <p:cNvPr id="456" name="Google Shape;456;p4"/>
            <p:cNvCxnSpPr/>
            <p:nvPr/>
          </p:nvCxnSpPr>
          <p:spPr>
            <a:xfrm>
              <a:off x="768" y="1633"/>
              <a:ext cx="4016" cy="2015"/>
            </a:xfrm>
            <a:prstGeom prst="straightConnector1">
              <a:avLst/>
            </a:prstGeom>
            <a:noFill/>
            <a:ln cap="flat" cmpd="sng" w="25400">
              <a:solidFill>
                <a:srgbClr val="FF66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457" name="Google Shape;457;p4"/>
            <p:cNvGrpSpPr/>
            <p:nvPr/>
          </p:nvGrpSpPr>
          <p:grpSpPr>
            <a:xfrm>
              <a:off x="844" y="1682"/>
              <a:ext cx="3860" cy="1966"/>
              <a:chOff x="844" y="1682"/>
              <a:chExt cx="3860" cy="1966"/>
            </a:xfrm>
          </p:grpSpPr>
          <p:cxnSp>
            <p:nvCxnSpPr>
              <p:cNvPr id="458" name="Google Shape;458;p4"/>
              <p:cNvCxnSpPr/>
              <p:nvPr/>
            </p:nvCxnSpPr>
            <p:spPr>
              <a:xfrm flipH="1">
                <a:off x="928" y="172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59" name="Google Shape;459;p4"/>
              <p:cNvCxnSpPr/>
              <p:nvPr/>
            </p:nvCxnSpPr>
            <p:spPr>
              <a:xfrm flipH="1">
                <a:off x="1024" y="177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60" name="Google Shape;460;p4"/>
              <p:cNvCxnSpPr/>
              <p:nvPr/>
            </p:nvCxnSpPr>
            <p:spPr>
              <a:xfrm flipH="1">
                <a:off x="1120" y="182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61" name="Google Shape;461;p4"/>
              <p:cNvCxnSpPr/>
              <p:nvPr/>
            </p:nvCxnSpPr>
            <p:spPr>
              <a:xfrm flipH="1">
                <a:off x="1216" y="187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62" name="Google Shape;462;p4"/>
              <p:cNvCxnSpPr/>
              <p:nvPr/>
            </p:nvCxnSpPr>
            <p:spPr>
              <a:xfrm flipH="1">
                <a:off x="1312" y="192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63" name="Google Shape;463;p4"/>
              <p:cNvCxnSpPr/>
              <p:nvPr/>
            </p:nvCxnSpPr>
            <p:spPr>
              <a:xfrm flipH="1">
                <a:off x="1408" y="196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64" name="Google Shape;464;p4"/>
              <p:cNvCxnSpPr/>
              <p:nvPr/>
            </p:nvCxnSpPr>
            <p:spPr>
              <a:xfrm flipH="1">
                <a:off x="1504" y="201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65" name="Google Shape;465;p4"/>
              <p:cNvCxnSpPr/>
              <p:nvPr/>
            </p:nvCxnSpPr>
            <p:spPr>
              <a:xfrm flipH="1">
                <a:off x="1600" y="206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66" name="Google Shape;466;p4"/>
              <p:cNvCxnSpPr/>
              <p:nvPr/>
            </p:nvCxnSpPr>
            <p:spPr>
              <a:xfrm flipH="1">
                <a:off x="1696" y="211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67" name="Google Shape;467;p4"/>
              <p:cNvCxnSpPr/>
              <p:nvPr/>
            </p:nvCxnSpPr>
            <p:spPr>
              <a:xfrm flipH="1">
                <a:off x="1792" y="216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68" name="Google Shape;468;p4"/>
              <p:cNvCxnSpPr/>
              <p:nvPr/>
            </p:nvCxnSpPr>
            <p:spPr>
              <a:xfrm flipH="1">
                <a:off x="1888" y="220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69" name="Google Shape;469;p4"/>
              <p:cNvCxnSpPr/>
              <p:nvPr/>
            </p:nvCxnSpPr>
            <p:spPr>
              <a:xfrm flipH="1">
                <a:off x="1984" y="225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70" name="Google Shape;470;p4"/>
              <p:cNvCxnSpPr/>
              <p:nvPr/>
            </p:nvCxnSpPr>
            <p:spPr>
              <a:xfrm flipH="1">
                <a:off x="2080" y="230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71" name="Google Shape;471;p4"/>
              <p:cNvCxnSpPr/>
              <p:nvPr/>
            </p:nvCxnSpPr>
            <p:spPr>
              <a:xfrm flipH="1">
                <a:off x="2176" y="235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72" name="Google Shape;472;p4"/>
              <p:cNvCxnSpPr/>
              <p:nvPr/>
            </p:nvCxnSpPr>
            <p:spPr>
              <a:xfrm flipH="1">
                <a:off x="2272" y="240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73" name="Google Shape;473;p4"/>
              <p:cNvCxnSpPr/>
              <p:nvPr/>
            </p:nvCxnSpPr>
            <p:spPr>
              <a:xfrm flipH="1">
                <a:off x="2368" y="244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74" name="Google Shape;474;p4"/>
              <p:cNvCxnSpPr/>
              <p:nvPr/>
            </p:nvCxnSpPr>
            <p:spPr>
              <a:xfrm flipH="1">
                <a:off x="2464" y="249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75" name="Google Shape;475;p4"/>
              <p:cNvCxnSpPr/>
              <p:nvPr/>
            </p:nvCxnSpPr>
            <p:spPr>
              <a:xfrm flipH="1">
                <a:off x="2560" y="254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76" name="Google Shape;476;p4"/>
              <p:cNvCxnSpPr/>
              <p:nvPr/>
            </p:nvCxnSpPr>
            <p:spPr>
              <a:xfrm flipH="1">
                <a:off x="2656" y="259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77" name="Google Shape;477;p4"/>
              <p:cNvCxnSpPr/>
              <p:nvPr/>
            </p:nvCxnSpPr>
            <p:spPr>
              <a:xfrm flipH="1">
                <a:off x="2752" y="264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78" name="Google Shape;478;p4"/>
              <p:cNvCxnSpPr/>
              <p:nvPr/>
            </p:nvCxnSpPr>
            <p:spPr>
              <a:xfrm flipH="1">
                <a:off x="2848" y="268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79" name="Google Shape;479;p4"/>
              <p:cNvCxnSpPr/>
              <p:nvPr/>
            </p:nvCxnSpPr>
            <p:spPr>
              <a:xfrm flipH="1">
                <a:off x="2944" y="273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80" name="Google Shape;480;p4"/>
              <p:cNvCxnSpPr/>
              <p:nvPr/>
            </p:nvCxnSpPr>
            <p:spPr>
              <a:xfrm flipH="1">
                <a:off x="3040" y="278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81" name="Google Shape;481;p4"/>
              <p:cNvCxnSpPr/>
              <p:nvPr/>
            </p:nvCxnSpPr>
            <p:spPr>
              <a:xfrm flipH="1">
                <a:off x="3136" y="283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82" name="Google Shape;482;p4"/>
              <p:cNvCxnSpPr/>
              <p:nvPr/>
            </p:nvCxnSpPr>
            <p:spPr>
              <a:xfrm flipH="1">
                <a:off x="3232" y="288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83" name="Google Shape;483;p4"/>
              <p:cNvCxnSpPr/>
              <p:nvPr/>
            </p:nvCxnSpPr>
            <p:spPr>
              <a:xfrm flipH="1">
                <a:off x="3328" y="292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84" name="Google Shape;484;p4"/>
              <p:cNvCxnSpPr/>
              <p:nvPr/>
            </p:nvCxnSpPr>
            <p:spPr>
              <a:xfrm flipH="1">
                <a:off x="3424" y="297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85" name="Google Shape;485;p4"/>
              <p:cNvCxnSpPr/>
              <p:nvPr/>
            </p:nvCxnSpPr>
            <p:spPr>
              <a:xfrm flipH="1">
                <a:off x="3520" y="302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86" name="Google Shape;486;p4"/>
              <p:cNvCxnSpPr/>
              <p:nvPr/>
            </p:nvCxnSpPr>
            <p:spPr>
              <a:xfrm flipH="1">
                <a:off x="3616" y="307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87" name="Google Shape;487;p4"/>
              <p:cNvCxnSpPr/>
              <p:nvPr/>
            </p:nvCxnSpPr>
            <p:spPr>
              <a:xfrm flipH="1">
                <a:off x="3712" y="312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88" name="Google Shape;488;p4"/>
              <p:cNvCxnSpPr/>
              <p:nvPr/>
            </p:nvCxnSpPr>
            <p:spPr>
              <a:xfrm flipH="1">
                <a:off x="3808" y="316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89" name="Google Shape;489;p4"/>
              <p:cNvCxnSpPr/>
              <p:nvPr/>
            </p:nvCxnSpPr>
            <p:spPr>
              <a:xfrm flipH="1">
                <a:off x="3904" y="321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90" name="Google Shape;490;p4"/>
              <p:cNvCxnSpPr/>
              <p:nvPr/>
            </p:nvCxnSpPr>
            <p:spPr>
              <a:xfrm flipH="1">
                <a:off x="4000" y="326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91" name="Google Shape;491;p4"/>
              <p:cNvCxnSpPr/>
              <p:nvPr/>
            </p:nvCxnSpPr>
            <p:spPr>
              <a:xfrm flipH="1">
                <a:off x="4096" y="331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92" name="Google Shape;492;p4"/>
              <p:cNvCxnSpPr/>
              <p:nvPr/>
            </p:nvCxnSpPr>
            <p:spPr>
              <a:xfrm flipH="1">
                <a:off x="4192" y="336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93" name="Google Shape;493;p4"/>
              <p:cNvCxnSpPr/>
              <p:nvPr/>
            </p:nvCxnSpPr>
            <p:spPr>
              <a:xfrm flipH="1">
                <a:off x="4288" y="340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94" name="Google Shape;494;p4"/>
              <p:cNvCxnSpPr/>
              <p:nvPr/>
            </p:nvCxnSpPr>
            <p:spPr>
              <a:xfrm flipH="1">
                <a:off x="4384" y="345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95" name="Google Shape;495;p4"/>
              <p:cNvCxnSpPr/>
              <p:nvPr/>
            </p:nvCxnSpPr>
            <p:spPr>
              <a:xfrm flipH="1">
                <a:off x="4480" y="350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96" name="Google Shape;496;p4"/>
              <p:cNvCxnSpPr/>
              <p:nvPr/>
            </p:nvCxnSpPr>
            <p:spPr>
              <a:xfrm flipH="1">
                <a:off x="4576" y="355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97" name="Google Shape;497;p4"/>
              <p:cNvCxnSpPr/>
              <p:nvPr/>
            </p:nvCxnSpPr>
            <p:spPr>
              <a:xfrm flipH="1">
                <a:off x="4672" y="360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498" name="Google Shape;498;p4"/>
              <p:cNvCxnSpPr/>
              <p:nvPr/>
            </p:nvCxnSpPr>
            <p:spPr>
              <a:xfrm flipH="1">
                <a:off x="844" y="168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</p:grpSp>
      </p:grpSp>
      <p:grpSp>
        <p:nvGrpSpPr>
          <p:cNvPr id="499" name="Google Shape;499;p4"/>
          <p:cNvGrpSpPr/>
          <p:nvPr/>
        </p:nvGrpSpPr>
        <p:grpSpPr>
          <a:xfrm>
            <a:off x="1219200" y="1068387"/>
            <a:ext cx="3543300" cy="4748212"/>
            <a:chOff x="768" y="1633"/>
            <a:chExt cx="4016" cy="2015"/>
          </a:xfrm>
        </p:grpSpPr>
        <p:cxnSp>
          <p:nvCxnSpPr>
            <p:cNvPr id="500" name="Google Shape;500;p4"/>
            <p:cNvCxnSpPr/>
            <p:nvPr/>
          </p:nvCxnSpPr>
          <p:spPr>
            <a:xfrm>
              <a:off x="768" y="1633"/>
              <a:ext cx="4016" cy="2015"/>
            </a:xfrm>
            <a:prstGeom prst="straightConnector1">
              <a:avLst/>
            </a:prstGeom>
            <a:noFill/>
            <a:ln cap="flat" cmpd="sng" w="25400">
              <a:solidFill>
                <a:srgbClr val="99009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501" name="Google Shape;501;p4"/>
            <p:cNvGrpSpPr/>
            <p:nvPr/>
          </p:nvGrpSpPr>
          <p:grpSpPr>
            <a:xfrm>
              <a:off x="844" y="1682"/>
              <a:ext cx="3860" cy="1966"/>
              <a:chOff x="844" y="1682"/>
              <a:chExt cx="3860" cy="1966"/>
            </a:xfrm>
          </p:grpSpPr>
          <p:cxnSp>
            <p:nvCxnSpPr>
              <p:cNvPr id="502" name="Google Shape;502;p4"/>
              <p:cNvCxnSpPr/>
              <p:nvPr/>
            </p:nvCxnSpPr>
            <p:spPr>
              <a:xfrm flipH="1">
                <a:off x="928" y="172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03" name="Google Shape;503;p4"/>
              <p:cNvCxnSpPr/>
              <p:nvPr/>
            </p:nvCxnSpPr>
            <p:spPr>
              <a:xfrm flipH="1">
                <a:off x="1024" y="177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04" name="Google Shape;504;p4"/>
              <p:cNvCxnSpPr/>
              <p:nvPr/>
            </p:nvCxnSpPr>
            <p:spPr>
              <a:xfrm flipH="1">
                <a:off x="1120" y="182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05" name="Google Shape;505;p4"/>
              <p:cNvCxnSpPr/>
              <p:nvPr/>
            </p:nvCxnSpPr>
            <p:spPr>
              <a:xfrm flipH="1">
                <a:off x="1216" y="187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06" name="Google Shape;506;p4"/>
              <p:cNvCxnSpPr/>
              <p:nvPr/>
            </p:nvCxnSpPr>
            <p:spPr>
              <a:xfrm flipH="1">
                <a:off x="1312" y="192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07" name="Google Shape;507;p4"/>
              <p:cNvCxnSpPr/>
              <p:nvPr/>
            </p:nvCxnSpPr>
            <p:spPr>
              <a:xfrm flipH="1">
                <a:off x="1408" y="196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08" name="Google Shape;508;p4"/>
              <p:cNvCxnSpPr/>
              <p:nvPr/>
            </p:nvCxnSpPr>
            <p:spPr>
              <a:xfrm flipH="1">
                <a:off x="1504" y="201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09" name="Google Shape;509;p4"/>
              <p:cNvCxnSpPr/>
              <p:nvPr/>
            </p:nvCxnSpPr>
            <p:spPr>
              <a:xfrm flipH="1">
                <a:off x="1600" y="206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10" name="Google Shape;510;p4"/>
              <p:cNvCxnSpPr/>
              <p:nvPr/>
            </p:nvCxnSpPr>
            <p:spPr>
              <a:xfrm flipH="1">
                <a:off x="1696" y="211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11" name="Google Shape;511;p4"/>
              <p:cNvCxnSpPr/>
              <p:nvPr/>
            </p:nvCxnSpPr>
            <p:spPr>
              <a:xfrm flipH="1">
                <a:off x="1792" y="216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12" name="Google Shape;512;p4"/>
              <p:cNvCxnSpPr/>
              <p:nvPr/>
            </p:nvCxnSpPr>
            <p:spPr>
              <a:xfrm flipH="1">
                <a:off x="1888" y="220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13" name="Google Shape;513;p4"/>
              <p:cNvCxnSpPr/>
              <p:nvPr/>
            </p:nvCxnSpPr>
            <p:spPr>
              <a:xfrm flipH="1">
                <a:off x="1984" y="225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14" name="Google Shape;514;p4"/>
              <p:cNvCxnSpPr/>
              <p:nvPr/>
            </p:nvCxnSpPr>
            <p:spPr>
              <a:xfrm flipH="1">
                <a:off x="2080" y="230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15" name="Google Shape;515;p4"/>
              <p:cNvCxnSpPr/>
              <p:nvPr/>
            </p:nvCxnSpPr>
            <p:spPr>
              <a:xfrm flipH="1">
                <a:off x="2176" y="235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16" name="Google Shape;516;p4"/>
              <p:cNvCxnSpPr/>
              <p:nvPr/>
            </p:nvCxnSpPr>
            <p:spPr>
              <a:xfrm flipH="1">
                <a:off x="2272" y="240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17" name="Google Shape;517;p4"/>
              <p:cNvCxnSpPr/>
              <p:nvPr/>
            </p:nvCxnSpPr>
            <p:spPr>
              <a:xfrm flipH="1">
                <a:off x="2368" y="244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18" name="Google Shape;518;p4"/>
              <p:cNvCxnSpPr/>
              <p:nvPr/>
            </p:nvCxnSpPr>
            <p:spPr>
              <a:xfrm flipH="1">
                <a:off x="2464" y="249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19" name="Google Shape;519;p4"/>
              <p:cNvCxnSpPr/>
              <p:nvPr/>
            </p:nvCxnSpPr>
            <p:spPr>
              <a:xfrm flipH="1">
                <a:off x="2560" y="254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20" name="Google Shape;520;p4"/>
              <p:cNvCxnSpPr/>
              <p:nvPr/>
            </p:nvCxnSpPr>
            <p:spPr>
              <a:xfrm flipH="1">
                <a:off x="2656" y="259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21" name="Google Shape;521;p4"/>
              <p:cNvCxnSpPr/>
              <p:nvPr/>
            </p:nvCxnSpPr>
            <p:spPr>
              <a:xfrm flipH="1">
                <a:off x="2752" y="264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22" name="Google Shape;522;p4"/>
              <p:cNvCxnSpPr/>
              <p:nvPr/>
            </p:nvCxnSpPr>
            <p:spPr>
              <a:xfrm flipH="1">
                <a:off x="2848" y="268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23" name="Google Shape;523;p4"/>
              <p:cNvCxnSpPr/>
              <p:nvPr/>
            </p:nvCxnSpPr>
            <p:spPr>
              <a:xfrm flipH="1">
                <a:off x="2944" y="273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24" name="Google Shape;524;p4"/>
              <p:cNvCxnSpPr/>
              <p:nvPr/>
            </p:nvCxnSpPr>
            <p:spPr>
              <a:xfrm flipH="1">
                <a:off x="3040" y="278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25" name="Google Shape;525;p4"/>
              <p:cNvCxnSpPr/>
              <p:nvPr/>
            </p:nvCxnSpPr>
            <p:spPr>
              <a:xfrm flipH="1">
                <a:off x="3136" y="283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26" name="Google Shape;526;p4"/>
              <p:cNvCxnSpPr/>
              <p:nvPr/>
            </p:nvCxnSpPr>
            <p:spPr>
              <a:xfrm flipH="1">
                <a:off x="3232" y="288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27" name="Google Shape;527;p4"/>
              <p:cNvCxnSpPr/>
              <p:nvPr/>
            </p:nvCxnSpPr>
            <p:spPr>
              <a:xfrm flipH="1">
                <a:off x="3328" y="292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28" name="Google Shape;528;p4"/>
              <p:cNvCxnSpPr/>
              <p:nvPr/>
            </p:nvCxnSpPr>
            <p:spPr>
              <a:xfrm flipH="1">
                <a:off x="3424" y="297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29" name="Google Shape;529;p4"/>
              <p:cNvCxnSpPr/>
              <p:nvPr/>
            </p:nvCxnSpPr>
            <p:spPr>
              <a:xfrm flipH="1">
                <a:off x="3520" y="302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30" name="Google Shape;530;p4"/>
              <p:cNvCxnSpPr/>
              <p:nvPr/>
            </p:nvCxnSpPr>
            <p:spPr>
              <a:xfrm flipH="1">
                <a:off x="3616" y="307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31" name="Google Shape;531;p4"/>
              <p:cNvCxnSpPr/>
              <p:nvPr/>
            </p:nvCxnSpPr>
            <p:spPr>
              <a:xfrm flipH="1">
                <a:off x="3712" y="312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32" name="Google Shape;532;p4"/>
              <p:cNvCxnSpPr/>
              <p:nvPr/>
            </p:nvCxnSpPr>
            <p:spPr>
              <a:xfrm flipH="1">
                <a:off x="3808" y="316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33" name="Google Shape;533;p4"/>
              <p:cNvCxnSpPr/>
              <p:nvPr/>
            </p:nvCxnSpPr>
            <p:spPr>
              <a:xfrm flipH="1">
                <a:off x="3904" y="321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34" name="Google Shape;534;p4"/>
              <p:cNvCxnSpPr/>
              <p:nvPr/>
            </p:nvCxnSpPr>
            <p:spPr>
              <a:xfrm flipH="1">
                <a:off x="4000" y="326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35" name="Google Shape;535;p4"/>
              <p:cNvCxnSpPr/>
              <p:nvPr/>
            </p:nvCxnSpPr>
            <p:spPr>
              <a:xfrm flipH="1">
                <a:off x="4096" y="331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36" name="Google Shape;536;p4"/>
              <p:cNvCxnSpPr/>
              <p:nvPr/>
            </p:nvCxnSpPr>
            <p:spPr>
              <a:xfrm flipH="1">
                <a:off x="4192" y="336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37" name="Google Shape;537;p4"/>
              <p:cNvCxnSpPr/>
              <p:nvPr/>
            </p:nvCxnSpPr>
            <p:spPr>
              <a:xfrm flipH="1">
                <a:off x="4288" y="340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38" name="Google Shape;538;p4"/>
              <p:cNvCxnSpPr/>
              <p:nvPr/>
            </p:nvCxnSpPr>
            <p:spPr>
              <a:xfrm flipH="1">
                <a:off x="4384" y="345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39" name="Google Shape;539;p4"/>
              <p:cNvCxnSpPr/>
              <p:nvPr/>
            </p:nvCxnSpPr>
            <p:spPr>
              <a:xfrm flipH="1">
                <a:off x="4480" y="350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40" name="Google Shape;540;p4"/>
              <p:cNvCxnSpPr/>
              <p:nvPr/>
            </p:nvCxnSpPr>
            <p:spPr>
              <a:xfrm flipH="1">
                <a:off x="4576" y="355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41" name="Google Shape;541;p4"/>
              <p:cNvCxnSpPr/>
              <p:nvPr/>
            </p:nvCxnSpPr>
            <p:spPr>
              <a:xfrm flipH="1">
                <a:off x="4672" y="360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42" name="Google Shape;542;p4"/>
              <p:cNvCxnSpPr/>
              <p:nvPr/>
            </p:nvCxnSpPr>
            <p:spPr>
              <a:xfrm flipH="1">
                <a:off x="844" y="168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</p:grpSp>
      </p:grpSp>
      <p:grpSp>
        <p:nvGrpSpPr>
          <p:cNvPr id="543" name="Google Shape;543;p4"/>
          <p:cNvGrpSpPr/>
          <p:nvPr/>
        </p:nvGrpSpPr>
        <p:grpSpPr>
          <a:xfrm>
            <a:off x="5257800" y="1387475"/>
            <a:ext cx="2114550" cy="4419600"/>
            <a:chOff x="3312" y="874"/>
            <a:chExt cx="1332" cy="2784"/>
          </a:xfrm>
        </p:grpSpPr>
        <p:sp>
          <p:nvSpPr>
            <p:cNvPr id="544" name="Google Shape;544;p4"/>
            <p:cNvSpPr txBox="1"/>
            <p:nvPr/>
          </p:nvSpPr>
          <p:spPr>
            <a:xfrm>
              <a:off x="3457" y="1104"/>
              <a:ext cx="118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Demand B  ≤ 90</a:t>
              </a:r>
              <a:endParaRPr/>
            </a:p>
          </p:txBody>
        </p:sp>
        <p:grpSp>
          <p:nvGrpSpPr>
            <p:cNvPr id="545" name="Google Shape;545;p4"/>
            <p:cNvGrpSpPr/>
            <p:nvPr/>
          </p:nvGrpSpPr>
          <p:grpSpPr>
            <a:xfrm>
              <a:off x="3312" y="874"/>
              <a:ext cx="48" cy="2784"/>
              <a:chOff x="3312" y="874"/>
              <a:chExt cx="48" cy="2784"/>
            </a:xfrm>
          </p:grpSpPr>
          <p:cxnSp>
            <p:nvCxnSpPr>
              <p:cNvPr id="546" name="Google Shape;546;p4"/>
              <p:cNvCxnSpPr/>
              <p:nvPr/>
            </p:nvCxnSpPr>
            <p:spPr>
              <a:xfrm rot="10800000">
                <a:off x="3360" y="874"/>
                <a:ext cx="0" cy="2784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grpSp>
            <p:nvGrpSpPr>
              <p:cNvPr id="547" name="Google Shape;547;p4"/>
              <p:cNvGrpSpPr/>
              <p:nvPr/>
            </p:nvGrpSpPr>
            <p:grpSpPr>
              <a:xfrm>
                <a:off x="3312" y="2016"/>
                <a:ext cx="48" cy="1558"/>
                <a:chOff x="3312" y="2016"/>
                <a:chExt cx="48" cy="1558"/>
              </a:xfrm>
            </p:grpSpPr>
            <p:cxnSp>
              <p:nvCxnSpPr>
                <p:cNvPr id="548" name="Google Shape;548;p4"/>
                <p:cNvCxnSpPr/>
                <p:nvPr/>
              </p:nvCxnSpPr>
              <p:spPr>
                <a:xfrm rot="10800000">
                  <a:off x="3312" y="2016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49" name="Google Shape;549;p4"/>
                <p:cNvCxnSpPr/>
                <p:nvPr/>
              </p:nvCxnSpPr>
              <p:spPr>
                <a:xfrm rot="10800000">
                  <a:off x="3312" y="2098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50" name="Google Shape;550;p4"/>
                <p:cNvCxnSpPr/>
                <p:nvPr/>
              </p:nvCxnSpPr>
              <p:spPr>
                <a:xfrm rot="10800000">
                  <a:off x="3312" y="2180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51" name="Google Shape;551;p4"/>
                <p:cNvCxnSpPr/>
                <p:nvPr/>
              </p:nvCxnSpPr>
              <p:spPr>
                <a:xfrm rot="10800000">
                  <a:off x="3312" y="2262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52" name="Google Shape;552;p4"/>
                <p:cNvCxnSpPr/>
                <p:nvPr/>
              </p:nvCxnSpPr>
              <p:spPr>
                <a:xfrm rot="10800000">
                  <a:off x="3312" y="2344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53" name="Google Shape;553;p4"/>
                <p:cNvCxnSpPr/>
                <p:nvPr/>
              </p:nvCxnSpPr>
              <p:spPr>
                <a:xfrm rot="10800000">
                  <a:off x="3312" y="2426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54" name="Google Shape;554;p4"/>
                <p:cNvCxnSpPr/>
                <p:nvPr/>
              </p:nvCxnSpPr>
              <p:spPr>
                <a:xfrm rot="10800000">
                  <a:off x="3312" y="2508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55" name="Google Shape;555;p4"/>
                <p:cNvCxnSpPr/>
                <p:nvPr/>
              </p:nvCxnSpPr>
              <p:spPr>
                <a:xfrm rot="10800000">
                  <a:off x="3312" y="2590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56" name="Google Shape;556;p4"/>
                <p:cNvCxnSpPr/>
                <p:nvPr/>
              </p:nvCxnSpPr>
              <p:spPr>
                <a:xfrm rot="10800000">
                  <a:off x="3312" y="2672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57" name="Google Shape;557;p4"/>
                <p:cNvCxnSpPr/>
                <p:nvPr/>
              </p:nvCxnSpPr>
              <p:spPr>
                <a:xfrm rot="10800000">
                  <a:off x="3312" y="2754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58" name="Google Shape;558;p4"/>
                <p:cNvCxnSpPr/>
                <p:nvPr/>
              </p:nvCxnSpPr>
              <p:spPr>
                <a:xfrm rot="10800000">
                  <a:off x="3312" y="2836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59" name="Google Shape;559;p4"/>
                <p:cNvCxnSpPr/>
                <p:nvPr/>
              </p:nvCxnSpPr>
              <p:spPr>
                <a:xfrm rot="10800000">
                  <a:off x="3312" y="2918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60" name="Google Shape;560;p4"/>
                <p:cNvCxnSpPr/>
                <p:nvPr/>
              </p:nvCxnSpPr>
              <p:spPr>
                <a:xfrm rot="10800000">
                  <a:off x="3312" y="3000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61" name="Google Shape;561;p4"/>
                <p:cNvCxnSpPr/>
                <p:nvPr/>
              </p:nvCxnSpPr>
              <p:spPr>
                <a:xfrm rot="10800000">
                  <a:off x="3312" y="3082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62" name="Google Shape;562;p4"/>
                <p:cNvCxnSpPr/>
                <p:nvPr/>
              </p:nvCxnSpPr>
              <p:spPr>
                <a:xfrm rot="10800000">
                  <a:off x="3312" y="3164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63" name="Google Shape;563;p4"/>
                <p:cNvCxnSpPr/>
                <p:nvPr/>
              </p:nvCxnSpPr>
              <p:spPr>
                <a:xfrm rot="10800000">
                  <a:off x="3312" y="3246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64" name="Google Shape;564;p4"/>
                <p:cNvCxnSpPr/>
                <p:nvPr/>
              </p:nvCxnSpPr>
              <p:spPr>
                <a:xfrm rot="10800000">
                  <a:off x="3312" y="3328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65" name="Google Shape;565;p4"/>
                <p:cNvCxnSpPr/>
                <p:nvPr/>
              </p:nvCxnSpPr>
              <p:spPr>
                <a:xfrm rot="10800000">
                  <a:off x="3312" y="3410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66" name="Google Shape;566;p4"/>
                <p:cNvCxnSpPr/>
                <p:nvPr/>
              </p:nvCxnSpPr>
              <p:spPr>
                <a:xfrm rot="10800000">
                  <a:off x="3312" y="3492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567" name="Google Shape;567;p4"/>
                <p:cNvCxnSpPr/>
                <p:nvPr/>
              </p:nvCxnSpPr>
              <p:spPr>
                <a:xfrm rot="10800000">
                  <a:off x="3312" y="3574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</p:grpSp>
          <p:cxnSp>
            <p:nvCxnSpPr>
              <p:cNvPr id="568" name="Google Shape;568;p4"/>
              <p:cNvCxnSpPr/>
              <p:nvPr/>
            </p:nvCxnSpPr>
            <p:spPr>
              <a:xfrm rot="10800000">
                <a:off x="3312" y="950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69" name="Google Shape;569;p4"/>
              <p:cNvCxnSpPr/>
              <p:nvPr/>
            </p:nvCxnSpPr>
            <p:spPr>
              <a:xfrm rot="10800000">
                <a:off x="3312" y="1032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70" name="Google Shape;570;p4"/>
              <p:cNvCxnSpPr/>
              <p:nvPr/>
            </p:nvCxnSpPr>
            <p:spPr>
              <a:xfrm rot="10800000">
                <a:off x="3312" y="1114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71" name="Google Shape;571;p4"/>
              <p:cNvCxnSpPr/>
              <p:nvPr/>
            </p:nvCxnSpPr>
            <p:spPr>
              <a:xfrm rot="10800000">
                <a:off x="3312" y="1196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72" name="Google Shape;572;p4"/>
              <p:cNvCxnSpPr/>
              <p:nvPr/>
            </p:nvCxnSpPr>
            <p:spPr>
              <a:xfrm rot="10800000">
                <a:off x="3312" y="1278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73" name="Google Shape;573;p4"/>
              <p:cNvCxnSpPr/>
              <p:nvPr/>
            </p:nvCxnSpPr>
            <p:spPr>
              <a:xfrm rot="10800000">
                <a:off x="3312" y="1360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74" name="Google Shape;574;p4"/>
              <p:cNvCxnSpPr/>
              <p:nvPr/>
            </p:nvCxnSpPr>
            <p:spPr>
              <a:xfrm rot="10800000">
                <a:off x="3312" y="1442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75" name="Google Shape;575;p4"/>
              <p:cNvCxnSpPr/>
              <p:nvPr/>
            </p:nvCxnSpPr>
            <p:spPr>
              <a:xfrm rot="10800000">
                <a:off x="3312" y="1524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76" name="Google Shape;576;p4"/>
              <p:cNvCxnSpPr/>
              <p:nvPr/>
            </p:nvCxnSpPr>
            <p:spPr>
              <a:xfrm rot="10800000">
                <a:off x="3312" y="1606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77" name="Google Shape;577;p4"/>
              <p:cNvCxnSpPr/>
              <p:nvPr/>
            </p:nvCxnSpPr>
            <p:spPr>
              <a:xfrm rot="10800000">
                <a:off x="3312" y="1688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78" name="Google Shape;578;p4"/>
              <p:cNvCxnSpPr/>
              <p:nvPr/>
            </p:nvCxnSpPr>
            <p:spPr>
              <a:xfrm rot="10800000">
                <a:off x="3312" y="1770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79" name="Google Shape;579;p4"/>
              <p:cNvCxnSpPr/>
              <p:nvPr/>
            </p:nvCxnSpPr>
            <p:spPr>
              <a:xfrm rot="10800000">
                <a:off x="3312" y="1852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80" name="Google Shape;580;p4"/>
              <p:cNvCxnSpPr/>
              <p:nvPr/>
            </p:nvCxnSpPr>
            <p:spPr>
              <a:xfrm rot="10800000">
                <a:off x="3312" y="1934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581" name="Google Shape;581;p4"/>
              <p:cNvCxnSpPr/>
              <p:nvPr/>
            </p:nvCxnSpPr>
            <p:spPr>
              <a:xfrm rot="10800000">
                <a:off x="3312" y="2016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7" name="Google Shape;587;p5"/>
          <p:cNvGrpSpPr/>
          <p:nvPr/>
        </p:nvGrpSpPr>
        <p:grpSpPr>
          <a:xfrm>
            <a:off x="1219200" y="3060700"/>
            <a:ext cx="3549650" cy="2743200"/>
            <a:chOff x="768" y="1928"/>
            <a:chExt cx="2236" cy="1728"/>
          </a:xfrm>
        </p:grpSpPr>
        <p:sp>
          <p:nvSpPr>
            <p:cNvPr id="588" name="Google Shape;588;p5"/>
            <p:cNvSpPr/>
            <p:nvPr/>
          </p:nvSpPr>
          <p:spPr>
            <a:xfrm>
              <a:off x="768" y="1928"/>
              <a:ext cx="2236" cy="1728"/>
            </a:xfrm>
            <a:custGeom>
              <a:rect b="b" l="l" r="r" t="t"/>
              <a:pathLst>
                <a:path extrusionOk="0" h="1728" w="2236">
                  <a:moveTo>
                    <a:pt x="0" y="0"/>
                  </a:moveTo>
                  <a:lnTo>
                    <a:pt x="580" y="0"/>
                  </a:lnTo>
                  <a:lnTo>
                    <a:pt x="1152" y="284"/>
                  </a:lnTo>
                  <a:lnTo>
                    <a:pt x="2236" y="1728"/>
                  </a:lnTo>
                  <a:lnTo>
                    <a:pt x="0" y="1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33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5"/>
            <p:cNvSpPr txBox="1"/>
            <p:nvPr/>
          </p:nvSpPr>
          <p:spPr>
            <a:xfrm rot="2640000">
              <a:off x="870" y="2643"/>
              <a:ext cx="1209" cy="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Arial"/>
                <a:buNone/>
              </a:pPr>
              <a:r>
                <a:rPr b="1" i="0" lang="en-US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Feasible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Arial"/>
                <a:buNone/>
              </a:pPr>
              <a:r>
                <a:rPr b="1" i="0" lang="en-US" sz="3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Set</a:t>
              </a:r>
              <a:endParaRPr/>
            </a:p>
          </p:txBody>
        </p:sp>
      </p:grpSp>
      <p:cxnSp>
        <p:nvCxnSpPr>
          <p:cNvPr id="590" name="Google Shape;590;p5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91" name="Google Shape;591;p5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92" name="Google Shape;592;p5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593" name="Google Shape;593;p5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594" name="Google Shape;594;p5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595" name="Google Shape;595;p5"/>
          <p:cNvSpPr txBox="1"/>
          <p:nvPr/>
        </p:nvSpPr>
        <p:spPr>
          <a:xfrm>
            <a:off x="5487987" y="838200"/>
            <a:ext cx="27416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66FF"/>
                </a:solidFill>
                <a:latin typeface="Arial"/>
                <a:ea typeface="Arial"/>
                <a:cs typeface="Arial"/>
                <a:sym typeface="Arial"/>
              </a:rPr>
              <a:t>Labor 30B + 60C ≤ 4200</a:t>
            </a:r>
            <a:endParaRPr/>
          </a:p>
        </p:txBody>
      </p:sp>
      <p:sp>
        <p:nvSpPr>
          <p:cNvPr id="596" name="Google Shape;596;p5"/>
          <p:cNvSpPr txBox="1"/>
          <p:nvPr/>
        </p:nvSpPr>
        <p:spPr>
          <a:xfrm>
            <a:off x="5487987" y="1295400"/>
            <a:ext cx="26781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Oven 60B + 45C ≤ 4650</a:t>
            </a:r>
            <a:endParaRPr/>
          </a:p>
        </p:txBody>
      </p:sp>
      <p:sp>
        <p:nvSpPr>
          <p:cNvPr id="597" name="Google Shape;597;p5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598" name="Google Shape;598;p5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599" name="Google Shape;599;p5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600" name="Google Shape;600;p5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601" name="Google Shape;601;p5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602" name="Google Shape;602;p5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603" name="Google Shape;603;p5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604" name="Google Shape;604;p5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605" name="Google Shape;605;p5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606" name="Google Shape;606;p5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07" name="Google Shape;607;p5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08" name="Google Shape;608;p5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09" name="Google Shape;609;p5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0" name="Google Shape;610;p5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1" name="Google Shape;611;p5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2" name="Google Shape;612;p5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3" name="Google Shape;613;p5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4" name="Google Shape;614;p5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5" name="Google Shape;615;p5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6" name="Google Shape;616;p5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7" name="Google Shape;617;p5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8" name="Google Shape;618;p5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19" name="Google Shape;619;p5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20" name="Google Shape;620;p5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21" name="Google Shape;621;p5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622" name="Google Shape;622;p5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623" name="Google Shape;623;p5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624" name="Google Shape;624;p5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625" name="Google Shape;625;p5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626" name="Google Shape;626;p5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627" name="Google Shape;627;p5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628" name="Google Shape;628;p5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629" name="Google Shape;629;p5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0" name="Google Shape;630;p5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1" name="Google Shape;631;p5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2" name="Google Shape;632;p5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3" name="Google Shape;633;p5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4" name="Google Shape;634;p5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5" name="Google Shape;635;p5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6" name="Google Shape;636;p5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7" name="Google Shape;637;p5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8" name="Google Shape;638;p5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9" name="Google Shape;639;p5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0" name="Google Shape;640;p5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1" name="Google Shape;641;p5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2" name="Google Shape;642;p5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3" name="Google Shape;643;p5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4" name="Google Shape;644;p5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5" name="Google Shape;645;p5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6" name="Google Shape;646;p5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7" name="Google Shape;647;p5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8" name="Google Shape;648;p5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9" name="Google Shape;649;p5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0" name="Google Shape;650;p5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1" name="Google Shape;651;p5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2" name="Google Shape;652;p5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3" name="Google Shape;653;p5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4" name="Google Shape;654;p5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5" name="Google Shape;655;p5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6" name="Google Shape;656;p5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7" name="Google Shape;657;p5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8" name="Google Shape;658;p5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9" name="Google Shape;659;p5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60" name="Google Shape;660;p5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61" name="Google Shape;661;p5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62" name="Google Shape;662;p5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63" name="Google Shape;663;p5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0" name="Google Shape;670;p6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71" name="Google Shape;671;p6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72" name="Google Shape;672;p6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673" name="Google Shape;673;p6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674" name="Google Shape;674;p6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675" name="Google Shape;675;p6"/>
          <p:cNvSpPr txBox="1"/>
          <p:nvPr/>
        </p:nvSpPr>
        <p:spPr>
          <a:xfrm>
            <a:off x="5487987" y="838200"/>
            <a:ext cx="26781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66FF"/>
                </a:solidFill>
                <a:latin typeface="Arial"/>
                <a:ea typeface="Arial"/>
                <a:cs typeface="Arial"/>
                <a:sym typeface="Arial"/>
              </a:rPr>
              <a:t>Labor 30B + 60C ≤ 4200</a:t>
            </a:r>
            <a:endParaRPr/>
          </a:p>
        </p:txBody>
      </p:sp>
      <p:sp>
        <p:nvSpPr>
          <p:cNvPr id="676" name="Google Shape;676;p6"/>
          <p:cNvSpPr txBox="1"/>
          <p:nvPr/>
        </p:nvSpPr>
        <p:spPr>
          <a:xfrm>
            <a:off x="5487987" y="1295400"/>
            <a:ext cx="26400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Oven 60B + 45C ≤ 4650</a:t>
            </a:r>
            <a:endParaRPr/>
          </a:p>
        </p:txBody>
      </p:sp>
      <p:cxnSp>
        <p:nvCxnSpPr>
          <p:cNvPr id="677" name="Google Shape;677;p6"/>
          <p:cNvCxnSpPr/>
          <p:nvPr/>
        </p:nvCxnSpPr>
        <p:spPr>
          <a:xfrm rot="-1620000">
            <a:off x="1397000" y="1460500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78" name="Google Shape;678;p6"/>
          <p:cNvSpPr txBox="1"/>
          <p:nvPr/>
        </p:nvSpPr>
        <p:spPr>
          <a:xfrm>
            <a:off x="5487987" y="2195512"/>
            <a:ext cx="18462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 C  ≤ 60</a:t>
            </a:r>
            <a:endParaRPr/>
          </a:p>
        </p:txBody>
      </p:sp>
      <p:cxnSp>
        <p:nvCxnSpPr>
          <p:cNvPr id="679" name="Google Shape;679;p6"/>
          <p:cNvCxnSpPr/>
          <p:nvPr/>
        </p:nvCxnSpPr>
        <p:spPr>
          <a:xfrm>
            <a:off x="1219200" y="25923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00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80" name="Google Shape;680;p6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681" name="Google Shape;681;p6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682" name="Google Shape;682;p6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683" name="Google Shape;683;p6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684" name="Google Shape;684;p6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685" name="Google Shape;685;p6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686" name="Google Shape;686;p6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687" name="Google Shape;687;p6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688" name="Google Shape;688;p6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689" name="Google Shape;689;p6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90" name="Google Shape;690;p6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91" name="Google Shape;691;p6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92" name="Google Shape;692;p6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93" name="Google Shape;693;p6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94" name="Google Shape;694;p6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95" name="Google Shape;695;p6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96" name="Google Shape;696;p6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97" name="Google Shape;697;p6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98" name="Google Shape;698;p6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99" name="Google Shape;699;p6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0" name="Google Shape;700;p6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1" name="Google Shape;701;p6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2" name="Google Shape;702;p6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3" name="Google Shape;703;p6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04" name="Google Shape;704;p6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705" name="Google Shape;705;p6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706" name="Google Shape;706;p6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707" name="Google Shape;707;p6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708" name="Google Shape;708;p6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709" name="Google Shape;709;p6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710" name="Google Shape;710;p6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711" name="Google Shape;711;p6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712" name="Google Shape;712;p6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3" name="Google Shape;713;p6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4" name="Google Shape;714;p6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5" name="Google Shape;715;p6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6" name="Google Shape;716;p6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7" name="Google Shape;717;p6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8" name="Google Shape;718;p6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9" name="Google Shape;719;p6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20" name="Google Shape;720;p6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21" name="Google Shape;721;p6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22" name="Google Shape;722;p6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23" name="Google Shape;723;p6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24" name="Google Shape;724;p6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25" name="Google Shape;725;p6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26" name="Google Shape;726;p6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27" name="Google Shape;727;p6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28" name="Google Shape;728;p6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29" name="Google Shape;729;p6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0" name="Google Shape;730;p6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1" name="Google Shape;731;p6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2" name="Google Shape;732;p6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3" name="Google Shape;733;p6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4" name="Google Shape;734;p6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5" name="Google Shape;735;p6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6" name="Google Shape;736;p6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7" name="Google Shape;737;p6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8" name="Google Shape;738;p6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9" name="Google Shape;739;p6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40" name="Google Shape;740;p6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41" name="Google Shape;741;p6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42" name="Google Shape;742;p6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43" name="Google Shape;743;p6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44" name="Google Shape;744;p6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45" name="Google Shape;745;p6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46" name="Google Shape;746;p6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47" name="Google Shape;747;p6"/>
          <p:cNvCxnSpPr/>
          <p:nvPr/>
        </p:nvCxnSpPr>
        <p:spPr>
          <a:xfrm>
            <a:off x="1219200" y="1068387"/>
            <a:ext cx="3543300" cy="4748212"/>
          </a:xfrm>
          <a:prstGeom prst="straightConnector1">
            <a:avLst/>
          </a:prstGeom>
          <a:noFill/>
          <a:ln cap="flat" cmpd="sng" w="25400">
            <a:solidFill>
              <a:srgbClr val="990099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48" name="Google Shape;748;p6"/>
          <p:cNvSpPr txBox="1"/>
          <p:nvPr/>
        </p:nvSpPr>
        <p:spPr>
          <a:xfrm>
            <a:off x="5487987" y="1752600"/>
            <a:ext cx="18335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Demand B  ≤ 90</a:t>
            </a:r>
            <a:endParaRPr/>
          </a:p>
        </p:txBody>
      </p:sp>
      <p:cxnSp>
        <p:nvCxnSpPr>
          <p:cNvPr id="749" name="Google Shape;749;p6"/>
          <p:cNvCxnSpPr/>
          <p:nvPr/>
        </p:nvCxnSpPr>
        <p:spPr>
          <a:xfrm rot="10800000">
            <a:off x="5334000" y="1387475"/>
            <a:ext cx="0" cy="4419600"/>
          </a:xfrm>
          <a:prstGeom prst="straightConnector1">
            <a:avLst/>
          </a:prstGeom>
          <a:noFill/>
          <a:ln cap="flat" cmpd="sng" w="254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750" name="Google Shape;750;p6"/>
          <p:cNvGrpSpPr/>
          <p:nvPr/>
        </p:nvGrpSpPr>
        <p:grpSpPr>
          <a:xfrm>
            <a:off x="1193800" y="4467851"/>
            <a:ext cx="1427162" cy="1348749"/>
            <a:chOff x="752" y="2814"/>
            <a:chExt cx="899" cy="850"/>
          </a:xfrm>
        </p:grpSpPr>
        <p:cxnSp>
          <p:nvCxnSpPr>
            <p:cNvPr id="751" name="Google Shape;751;p6"/>
            <p:cNvCxnSpPr/>
            <p:nvPr/>
          </p:nvCxnSpPr>
          <p:spPr>
            <a:xfrm>
              <a:off x="752" y="2928"/>
              <a:ext cx="899" cy="736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752" name="Google Shape;752;p6"/>
            <p:cNvSpPr txBox="1"/>
            <p:nvPr/>
          </p:nvSpPr>
          <p:spPr>
            <a:xfrm rot="2400000">
              <a:off x="864" y="3024"/>
              <a:ext cx="75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1" i="0" lang="en-US" sz="24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$ 1,500</a:t>
              </a:r>
              <a:endParaRPr/>
            </a:p>
          </p:txBody>
        </p:sp>
      </p:grpSp>
      <p:sp>
        <p:nvSpPr>
          <p:cNvPr id="753" name="Google Shape;753;p6"/>
          <p:cNvSpPr txBox="1"/>
          <p:nvPr/>
        </p:nvSpPr>
        <p:spPr>
          <a:xfrm>
            <a:off x="1981200" y="762000"/>
            <a:ext cx="2667000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 we make $ 1,500?</a:t>
            </a:r>
            <a:endParaRPr/>
          </a:p>
        </p:txBody>
      </p:sp>
      <p:grpSp>
        <p:nvGrpSpPr>
          <p:cNvPr id="754" name="Google Shape;754;p6"/>
          <p:cNvGrpSpPr/>
          <p:nvPr/>
        </p:nvGrpSpPr>
        <p:grpSpPr>
          <a:xfrm>
            <a:off x="1219200" y="3581400"/>
            <a:ext cx="5559425" cy="1066800"/>
            <a:chOff x="768" y="1145"/>
            <a:chExt cx="3110" cy="487"/>
          </a:xfrm>
        </p:grpSpPr>
        <p:cxnSp>
          <p:nvCxnSpPr>
            <p:cNvPr id="755" name="Google Shape;755;p6"/>
            <p:cNvCxnSpPr/>
            <p:nvPr/>
          </p:nvCxnSpPr>
          <p:spPr>
            <a:xfrm flipH="1">
              <a:off x="768" y="1344"/>
              <a:ext cx="528" cy="288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med" w="med" type="none"/>
              <a:tailEnd len="lg" w="lg" type="triangle"/>
            </a:ln>
          </p:spPr>
        </p:cxnSp>
        <p:sp>
          <p:nvSpPr>
            <p:cNvPr id="756" name="Google Shape;756;p6"/>
            <p:cNvSpPr txBox="1"/>
            <p:nvPr/>
          </p:nvSpPr>
          <p:spPr>
            <a:xfrm>
              <a:off x="1382" y="1145"/>
              <a:ext cx="2496" cy="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800"/>
                <a:buFont typeface="Arial"/>
                <a:buNone/>
              </a:pPr>
              <a:r>
                <a:rPr b="1" i="0" lang="en-US" sz="2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25 Cakes @ $60  = $1500 </a:t>
              </a:r>
              <a:endParaRPr/>
            </a:p>
          </p:txBody>
        </p:sp>
      </p:grpSp>
      <p:grpSp>
        <p:nvGrpSpPr>
          <p:cNvPr id="757" name="Google Shape;757;p6"/>
          <p:cNvGrpSpPr/>
          <p:nvPr/>
        </p:nvGrpSpPr>
        <p:grpSpPr>
          <a:xfrm>
            <a:off x="2590800" y="4724400"/>
            <a:ext cx="5716587" cy="1066800"/>
            <a:chOff x="768" y="1145"/>
            <a:chExt cx="3198" cy="487"/>
          </a:xfrm>
        </p:grpSpPr>
        <p:cxnSp>
          <p:nvCxnSpPr>
            <p:cNvPr id="758" name="Google Shape;758;p6"/>
            <p:cNvCxnSpPr/>
            <p:nvPr/>
          </p:nvCxnSpPr>
          <p:spPr>
            <a:xfrm flipH="1">
              <a:off x="768" y="1344"/>
              <a:ext cx="528" cy="288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med" w="med" type="none"/>
              <a:tailEnd len="lg" w="lg" type="triangle"/>
            </a:ln>
          </p:spPr>
        </p:cxnSp>
        <p:sp>
          <p:nvSpPr>
            <p:cNvPr id="759" name="Google Shape;759;p6"/>
            <p:cNvSpPr txBox="1"/>
            <p:nvPr/>
          </p:nvSpPr>
          <p:spPr>
            <a:xfrm>
              <a:off x="1382" y="1145"/>
              <a:ext cx="2584" cy="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800"/>
                <a:buFont typeface="Arial"/>
                <a:buNone/>
              </a:pPr>
              <a:r>
                <a:rPr b="1" i="0" lang="en-US" sz="2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30 Breads @ $50  = $1500 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6" name="Google Shape;766;p7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67" name="Google Shape;767;p7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68" name="Google Shape;768;p7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769" name="Google Shape;769;p7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770" name="Google Shape;770;p7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771" name="Google Shape;771;p7"/>
          <p:cNvSpPr txBox="1"/>
          <p:nvPr/>
        </p:nvSpPr>
        <p:spPr>
          <a:xfrm>
            <a:off x="5487987" y="838200"/>
            <a:ext cx="26781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66FF"/>
                </a:solidFill>
                <a:latin typeface="Arial"/>
                <a:ea typeface="Arial"/>
                <a:cs typeface="Arial"/>
                <a:sym typeface="Arial"/>
              </a:rPr>
              <a:t>Labor 30B + 60C ≤ 4200</a:t>
            </a:r>
            <a:endParaRPr/>
          </a:p>
        </p:txBody>
      </p:sp>
      <p:sp>
        <p:nvSpPr>
          <p:cNvPr id="772" name="Google Shape;772;p7"/>
          <p:cNvSpPr txBox="1"/>
          <p:nvPr/>
        </p:nvSpPr>
        <p:spPr>
          <a:xfrm>
            <a:off x="5487987" y="1295400"/>
            <a:ext cx="26400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Oven 60B + 45C ≤ 4650</a:t>
            </a:r>
            <a:endParaRPr/>
          </a:p>
        </p:txBody>
      </p:sp>
      <p:grpSp>
        <p:nvGrpSpPr>
          <p:cNvPr id="773" name="Google Shape;773;p7"/>
          <p:cNvGrpSpPr/>
          <p:nvPr/>
        </p:nvGrpSpPr>
        <p:grpSpPr>
          <a:xfrm>
            <a:off x="1018323" y="187640"/>
            <a:ext cx="7132753" cy="5744533"/>
            <a:chOff x="641" y="118"/>
            <a:chExt cx="4493" cy="3619"/>
          </a:xfrm>
        </p:grpSpPr>
        <p:grpSp>
          <p:nvGrpSpPr>
            <p:cNvPr id="774" name="Google Shape;774;p7"/>
            <p:cNvGrpSpPr/>
            <p:nvPr/>
          </p:nvGrpSpPr>
          <p:grpSpPr>
            <a:xfrm rot="-1620000">
              <a:off x="880" y="920"/>
              <a:ext cx="4016" cy="2015"/>
              <a:chOff x="768" y="1633"/>
              <a:chExt cx="4016" cy="2015"/>
            </a:xfrm>
          </p:grpSpPr>
          <p:cxnSp>
            <p:nvCxnSpPr>
              <p:cNvPr id="775" name="Google Shape;775;p7"/>
              <p:cNvCxnSpPr/>
              <p:nvPr/>
            </p:nvCxnSpPr>
            <p:spPr>
              <a:xfrm>
                <a:off x="768" y="1633"/>
                <a:ext cx="4016" cy="2015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grpSp>
            <p:nvGrpSpPr>
              <p:cNvPr id="776" name="Google Shape;776;p7"/>
              <p:cNvGrpSpPr/>
              <p:nvPr/>
            </p:nvGrpSpPr>
            <p:grpSpPr>
              <a:xfrm>
                <a:off x="844" y="1682"/>
                <a:ext cx="3860" cy="1966"/>
                <a:chOff x="844" y="1682"/>
                <a:chExt cx="3860" cy="1966"/>
              </a:xfrm>
            </p:grpSpPr>
            <p:cxnSp>
              <p:nvCxnSpPr>
                <p:cNvPr id="777" name="Google Shape;777;p7"/>
                <p:cNvCxnSpPr/>
                <p:nvPr/>
              </p:nvCxnSpPr>
              <p:spPr>
                <a:xfrm flipH="1">
                  <a:off x="928" y="172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78" name="Google Shape;778;p7"/>
                <p:cNvCxnSpPr/>
                <p:nvPr/>
              </p:nvCxnSpPr>
              <p:spPr>
                <a:xfrm flipH="1">
                  <a:off x="1024" y="177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79" name="Google Shape;779;p7"/>
                <p:cNvCxnSpPr/>
                <p:nvPr/>
              </p:nvCxnSpPr>
              <p:spPr>
                <a:xfrm flipH="1">
                  <a:off x="1120" y="182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80" name="Google Shape;780;p7"/>
                <p:cNvCxnSpPr/>
                <p:nvPr/>
              </p:nvCxnSpPr>
              <p:spPr>
                <a:xfrm flipH="1">
                  <a:off x="1216" y="187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81" name="Google Shape;781;p7"/>
                <p:cNvCxnSpPr/>
                <p:nvPr/>
              </p:nvCxnSpPr>
              <p:spPr>
                <a:xfrm flipH="1">
                  <a:off x="1312" y="192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82" name="Google Shape;782;p7"/>
                <p:cNvCxnSpPr/>
                <p:nvPr/>
              </p:nvCxnSpPr>
              <p:spPr>
                <a:xfrm flipH="1">
                  <a:off x="1408" y="196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83" name="Google Shape;783;p7"/>
                <p:cNvCxnSpPr/>
                <p:nvPr/>
              </p:nvCxnSpPr>
              <p:spPr>
                <a:xfrm flipH="1">
                  <a:off x="1504" y="201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84" name="Google Shape;784;p7"/>
                <p:cNvCxnSpPr/>
                <p:nvPr/>
              </p:nvCxnSpPr>
              <p:spPr>
                <a:xfrm flipH="1">
                  <a:off x="1600" y="206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85" name="Google Shape;785;p7"/>
                <p:cNvCxnSpPr/>
                <p:nvPr/>
              </p:nvCxnSpPr>
              <p:spPr>
                <a:xfrm flipH="1">
                  <a:off x="1696" y="211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86" name="Google Shape;786;p7"/>
                <p:cNvCxnSpPr/>
                <p:nvPr/>
              </p:nvCxnSpPr>
              <p:spPr>
                <a:xfrm flipH="1">
                  <a:off x="1792" y="216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87" name="Google Shape;787;p7"/>
                <p:cNvCxnSpPr/>
                <p:nvPr/>
              </p:nvCxnSpPr>
              <p:spPr>
                <a:xfrm flipH="1">
                  <a:off x="1888" y="220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88" name="Google Shape;788;p7"/>
                <p:cNvCxnSpPr/>
                <p:nvPr/>
              </p:nvCxnSpPr>
              <p:spPr>
                <a:xfrm flipH="1">
                  <a:off x="1984" y="225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89" name="Google Shape;789;p7"/>
                <p:cNvCxnSpPr/>
                <p:nvPr/>
              </p:nvCxnSpPr>
              <p:spPr>
                <a:xfrm flipH="1">
                  <a:off x="2080" y="230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90" name="Google Shape;790;p7"/>
                <p:cNvCxnSpPr/>
                <p:nvPr/>
              </p:nvCxnSpPr>
              <p:spPr>
                <a:xfrm flipH="1">
                  <a:off x="2176" y="235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91" name="Google Shape;791;p7"/>
                <p:cNvCxnSpPr/>
                <p:nvPr/>
              </p:nvCxnSpPr>
              <p:spPr>
                <a:xfrm flipH="1">
                  <a:off x="2272" y="240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92" name="Google Shape;792;p7"/>
                <p:cNvCxnSpPr/>
                <p:nvPr/>
              </p:nvCxnSpPr>
              <p:spPr>
                <a:xfrm flipH="1">
                  <a:off x="2368" y="244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93" name="Google Shape;793;p7"/>
                <p:cNvCxnSpPr/>
                <p:nvPr/>
              </p:nvCxnSpPr>
              <p:spPr>
                <a:xfrm flipH="1">
                  <a:off x="2464" y="249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94" name="Google Shape;794;p7"/>
                <p:cNvCxnSpPr/>
                <p:nvPr/>
              </p:nvCxnSpPr>
              <p:spPr>
                <a:xfrm flipH="1">
                  <a:off x="2560" y="254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95" name="Google Shape;795;p7"/>
                <p:cNvCxnSpPr/>
                <p:nvPr/>
              </p:nvCxnSpPr>
              <p:spPr>
                <a:xfrm flipH="1">
                  <a:off x="2656" y="259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96" name="Google Shape;796;p7"/>
                <p:cNvCxnSpPr/>
                <p:nvPr/>
              </p:nvCxnSpPr>
              <p:spPr>
                <a:xfrm flipH="1">
                  <a:off x="2752" y="264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97" name="Google Shape;797;p7"/>
                <p:cNvCxnSpPr/>
                <p:nvPr/>
              </p:nvCxnSpPr>
              <p:spPr>
                <a:xfrm flipH="1">
                  <a:off x="2848" y="268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98" name="Google Shape;798;p7"/>
                <p:cNvCxnSpPr/>
                <p:nvPr/>
              </p:nvCxnSpPr>
              <p:spPr>
                <a:xfrm flipH="1">
                  <a:off x="2944" y="273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799" name="Google Shape;799;p7"/>
                <p:cNvCxnSpPr/>
                <p:nvPr/>
              </p:nvCxnSpPr>
              <p:spPr>
                <a:xfrm flipH="1">
                  <a:off x="3040" y="278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00" name="Google Shape;800;p7"/>
                <p:cNvCxnSpPr/>
                <p:nvPr/>
              </p:nvCxnSpPr>
              <p:spPr>
                <a:xfrm flipH="1">
                  <a:off x="3136" y="283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01" name="Google Shape;801;p7"/>
                <p:cNvCxnSpPr/>
                <p:nvPr/>
              </p:nvCxnSpPr>
              <p:spPr>
                <a:xfrm flipH="1">
                  <a:off x="3232" y="288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02" name="Google Shape;802;p7"/>
                <p:cNvCxnSpPr/>
                <p:nvPr/>
              </p:nvCxnSpPr>
              <p:spPr>
                <a:xfrm flipH="1">
                  <a:off x="3328" y="292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03" name="Google Shape;803;p7"/>
                <p:cNvCxnSpPr/>
                <p:nvPr/>
              </p:nvCxnSpPr>
              <p:spPr>
                <a:xfrm flipH="1">
                  <a:off x="3424" y="297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04" name="Google Shape;804;p7"/>
                <p:cNvCxnSpPr/>
                <p:nvPr/>
              </p:nvCxnSpPr>
              <p:spPr>
                <a:xfrm flipH="1">
                  <a:off x="3520" y="302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05" name="Google Shape;805;p7"/>
                <p:cNvCxnSpPr/>
                <p:nvPr/>
              </p:nvCxnSpPr>
              <p:spPr>
                <a:xfrm flipH="1">
                  <a:off x="3616" y="307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06" name="Google Shape;806;p7"/>
                <p:cNvCxnSpPr/>
                <p:nvPr/>
              </p:nvCxnSpPr>
              <p:spPr>
                <a:xfrm flipH="1">
                  <a:off x="3712" y="312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07" name="Google Shape;807;p7"/>
                <p:cNvCxnSpPr/>
                <p:nvPr/>
              </p:nvCxnSpPr>
              <p:spPr>
                <a:xfrm flipH="1">
                  <a:off x="3808" y="316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08" name="Google Shape;808;p7"/>
                <p:cNvCxnSpPr/>
                <p:nvPr/>
              </p:nvCxnSpPr>
              <p:spPr>
                <a:xfrm flipH="1">
                  <a:off x="3904" y="321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09" name="Google Shape;809;p7"/>
                <p:cNvCxnSpPr/>
                <p:nvPr/>
              </p:nvCxnSpPr>
              <p:spPr>
                <a:xfrm flipH="1">
                  <a:off x="4000" y="326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10" name="Google Shape;810;p7"/>
                <p:cNvCxnSpPr/>
                <p:nvPr/>
              </p:nvCxnSpPr>
              <p:spPr>
                <a:xfrm flipH="1">
                  <a:off x="4096" y="331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11" name="Google Shape;811;p7"/>
                <p:cNvCxnSpPr/>
                <p:nvPr/>
              </p:nvCxnSpPr>
              <p:spPr>
                <a:xfrm flipH="1">
                  <a:off x="4192" y="336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12" name="Google Shape;812;p7"/>
                <p:cNvCxnSpPr/>
                <p:nvPr/>
              </p:nvCxnSpPr>
              <p:spPr>
                <a:xfrm flipH="1">
                  <a:off x="4288" y="3408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13" name="Google Shape;813;p7"/>
                <p:cNvCxnSpPr/>
                <p:nvPr/>
              </p:nvCxnSpPr>
              <p:spPr>
                <a:xfrm flipH="1">
                  <a:off x="4384" y="3456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14" name="Google Shape;814;p7"/>
                <p:cNvCxnSpPr/>
                <p:nvPr/>
              </p:nvCxnSpPr>
              <p:spPr>
                <a:xfrm flipH="1">
                  <a:off x="4480" y="3504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15" name="Google Shape;815;p7"/>
                <p:cNvCxnSpPr/>
                <p:nvPr/>
              </p:nvCxnSpPr>
              <p:spPr>
                <a:xfrm flipH="1">
                  <a:off x="4576" y="355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16" name="Google Shape;816;p7"/>
                <p:cNvCxnSpPr/>
                <p:nvPr/>
              </p:nvCxnSpPr>
              <p:spPr>
                <a:xfrm flipH="1">
                  <a:off x="4672" y="3600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817" name="Google Shape;817;p7"/>
                <p:cNvCxnSpPr/>
                <p:nvPr/>
              </p:nvCxnSpPr>
              <p:spPr>
                <a:xfrm flipH="1">
                  <a:off x="844" y="1682"/>
                  <a:ext cx="32" cy="4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</p:grpSp>
        </p:grpSp>
        <p:sp>
          <p:nvSpPr>
            <p:cNvPr id="818" name="Google Shape;818;p7"/>
            <p:cNvSpPr txBox="1"/>
            <p:nvPr/>
          </p:nvSpPr>
          <p:spPr>
            <a:xfrm>
              <a:off x="3457" y="1383"/>
              <a:ext cx="1163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Demand C  ≤ 60</a:t>
              </a:r>
              <a:endParaRPr/>
            </a:p>
          </p:txBody>
        </p:sp>
      </p:grpSp>
      <p:cxnSp>
        <p:nvCxnSpPr>
          <p:cNvPr id="819" name="Google Shape;819;p7"/>
          <p:cNvCxnSpPr/>
          <p:nvPr/>
        </p:nvCxnSpPr>
        <p:spPr>
          <a:xfrm>
            <a:off x="1219200" y="25923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00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0" name="Google Shape;820;p7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821" name="Google Shape;821;p7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822" name="Google Shape;822;p7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823" name="Google Shape;823;p7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824" name="Google Shape;824;p7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825" name="Google Shape;825;p7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826" name="Google Shape;826;p7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827" name="Google Shape;827;p7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828" name="Google Shape;828;p7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829" name="Google Shape;829;p7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30" name="Google Shape;830;p7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31" name="Google Shape;831;p7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32" name="Google Shape;832;p7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33" name="Google Shape;833;p7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34" name="Google Shape;834;p7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35" name="Google Shape;835;p7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36" name="Google Shape;836;p7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37" name="Google Shape;837;p7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38" name="Google Shape;838;p7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39" name="Google Shape;839;p7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40" name="Google Shape;840;p7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41" name="Google Shape;841;p7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42" name="Google Shape;842;p7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43" name="Google Shape;843;p7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44" name="Google Shape;844;p7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845" name="Google Shape;845;p7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846" name="Google Shape;846;p7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847" name="Google Shape;847;p7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848" name="Google Shape;848;p7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849" name="Google Shape;849;p7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850" name="Google Shape;850;p7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851" name="Google Shape;851;p7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852" name="Google Shape;852;p7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53" name="Google Shape;853;p7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54" name="Google Shape;854;p7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55" name="Google Shape;855;p7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56" name="Google Shape;856;p7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57" name="Google Shape;857;p7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58" name="Google Shape;858;p7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59" name="Google Shape;859;p7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0" name="Google Shape;860;p7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1" name="Google Shape;861;p7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2" name="Google Shape;862;p7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3" name="Google Shape;863;p7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4" name="Google Shape;864;p7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5" name="Google Shape;865;p7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6" name="Google Shape;866;p7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7" name="Google Shape;867;p7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8" name="Google Shape;868;p7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9" name="Google Shape;869;p7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0" name="Google Shape;870;p7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1" name="Google Shape;871;p7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2" name="Google Shape;872;p7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3" name="Google Shape;873;p7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4" name="Google Shape;874;p7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5" name="Google Shape;875;p7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6" name="Google Shape;876;p7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7" name="Google Shape;877;p7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8" name="Google Shape;878;p7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9" name="Google Shape;879;p7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80" name="Google Shape;880;p7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81" name="Google Shape;881;p7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82" name="Google Shape;882;p7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83" name="Google Shape;883;p7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84" name="Google Shape;884;p7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85" name="Google Shape;885;p7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86" name="Google Shape;886;p7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887" name="Google Shape;887;p7"/>
          <p:cNvGrpSpPr/>
          <p:nvPr/>
        </p:nvGrpSpPr>
        <p:grpSpPr>
          <a:xfrm>
            <a:off x="1244600" y="2605087"/>
            <a:ext cx="6375400" cy="3198812"/>
            <a:chOff x="768" y="1633"/>
            <a:chExt cx="4016" cy="2015"/>
          </a:xfrm>
        </p:grpSpPr>
        <p:cxnSp>
          <p:nvCxnSpPr>
            <p:cNvPr id="888" name="Google Shape;888;p7"/>
            <p:cNvCxnSpPr/>
            <p:nvPr/>
          </p:nvCxnSpPr>
          <p:spPr>
            <a:xfrm>
              <a:off x="768" y="1633"/>
              <a:ext cx="4016" cy="2015"/>
            </a:xfrm>
            <a:prstGeom prst="straightConnector1">
              <a:avLst/>
            </a:prstGeom>
            <a:noFill/>
            <a:ln cap="flat" cmpd="sng" w="25400">
              <a:solidFill>
                <a:srgbClr val="FF66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889" name="Google Shape;889;p7"/>
            <p:cNvGrpSpPr/>
            <p:nvPr/>
          </p:nvGrpSpPr>
          <p:grpSpPr>
            <a:xfrm>
              <a:off x="844" y="1682"/>
              <a:ext cx="3860" cy="1966"/>
              <a:chOff x="844" y="1682"/>
              <a:chExt cx="3860" cy="1966"/>
            </a:xfrm>
          </p:grpSpPr>
          <p:cxnSp>
            <p:nvCxnSpPr>
              <p:cNvPr id="890" name="Google Shape;890;p7"/>
              <p:cNvCxnSpPr/>
              <p:nvPr/>
            </p:nvCxnSpPr>
            <p:spPr>
              <a:xfrm flipH="1">
                <a:off x="928" y="172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891" name="Google Shape;891;p7"/>
              <p:cNvCxnSpPr/>
              <p:nvPr/>
            </p:nvCxnSpPr>
            <p:spPr>
              <a:xfrm flipH="1">
                <a:off x="1024" y="177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892" name="Google Shape;892;p7"/>
              <p:cNvCxnSpPr/>
              <p:nvPr/>
            </p:nvCxnSpPr>
            <p:spPr>
              <a:xfrm flipH="1">
                <a:off x="1120" y="182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893" name="Google Shape;893;p7"/>
              <p:cNvCxnSpPr/>
              <p:nvPr/>
            </p:nvCxnSpPr>
            <p:spPr>
              <a:xfrm flipH="1">
                <a:off x="1216" y="187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894" name="Google Shape;894;p7"/>
              <p:cNvCxnSpPr/>
              <p:nvPr/>
            </p:nvCxnSpPr>
            <p:spPr>
              <a:xfrm flipH="1">
                <a:off x="1312" y="192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895" name="Google Shape;895;p7"/>
              <p:cNvCxnSpPr/>
              <p:nvPr/>
            </p:nvCxnSpPr>
            <p:spPr>
              <a:xfrm flipH="1">
                <a:off x="1408" y="196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896" name="Google Shape;896;p7"/>
              <p:cNvCxnSpPr/>
              <p:nvPr/>
            </p:nvCxnSpPr>
            <p:spPr>
              <a:xfrm flipH="1">
                <a:off x="1504" y="201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897" name="Google Shape;897;p7"/>
              <p:cNvCxnSpPr/>
              <p:nvPr/>
            </p:nvCxnSpPr>
            <p:spPr>
              <a:xfrm flipH="1">
                <a:off x="1600" y="206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898" name="Google Shape;898;p7"/>
              <p:cNvCxnSpPr/>
              <p:nvPr/>
            </p:nvCxnSpPr>
            <p:spPr>
              <a:xfrm flipH="1">
                <a:off x="1696" y="211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899" name="Google Shape;899;p7"/>
              <p:cNvCxnSpPr/>
              <p:nvPr/>
            </p:nvCxnSpPr>
            <p:spPr>
              <a:xfrm flipH="1">
                <a:off x="1792" y="216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00" name="Google Shape;900;p7"/>
              <p:cNvCxnSpPr/>
              <p:nvPr/>
            </p:nvCxnSpPr>
            <p:spPr>
              <a:xfrm flipH="1">
                <a:off x="1888" y="220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01" name="Google Shape;901;p7"/>
              <p:cNvCxnSpPr/>
              <p:nvPr/>
            </p:nvCxnSpPr>
            <p:spPr>
              <a:xfrm flipH="1">
                <a:off x="1984" y="225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02" name="Google Shape;902;p7"/>
              <p:cNvCxnSpPr/>
              <p:nvPr/>
            </p:nvCxnSpPr>
            <p:spPr>
              <a:xfrm flipH="1">
                <a:off x="2080" y="230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03" name="Google Shape;903;p7"/>
              <p:cNvCxnSpPr/>
              <p:nvPr/>
            </p:nvCxnSpPr>
            <p:spPr>
              <a:xfrm flipH="1">
                <a:off x="2176" y="235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04" name="Google Shape;904;p7"/>
              <p:cNvCxnSpPr/>
              <p:nvPr/>
            </p:nvCxnSpPr>
            <p:spPr>
              <a:xfrm flipH="1">
                <a:off x="2272" y="240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05" name="Google Shape;905;p7"/>
              <p:cNvCxnSpPr/>
              <p:nvPr/>
            </p:nvCxnSpPr>
            <p:spPr>
              <a:xfrm flipH="1">
                <a:off x="2368" y="244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06" name="Google Shape;906;p7"/>
              <p:cNvCxnSpPr/>
              <p:nvPr/>
            </p:nvCxnSpPr>
            <p:spPr>
              <a:xfrm flipH="1">
                <a:off x="2464" y="249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07" name="Google Shape;907;p7"/>
              <p:cNvCxnSpPr/>
              <p:nvPr/>
            </p:nvCxnSpPr>
            <p:spPr>
              <a:xfrm flipH="1">
                <a:off x="2560" y="254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08" name="Google Shape;908;p7"/>
              <p:cNvCxnSpPr/>
              <p:nvPr/>
            </p:nvCxnSpPr>
            <p:spPr>
              <a:xfrm flipH="1">
                <a:off x="2656" y="259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09" name="Google Shape;909;p7"/>
              <p:cNvCxnSpPr/>
              <p:nvPr/>
            </p:nvCxnSpPr>
            <p:spPr>
              <a:xfrm flipH="1">
                <a:off x="2752" y="264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10" name="Google Shape;910;p7"/>
              <p:cNvCxnSpPr/>
              <p:nvPr/>
            </p:nvCxnSpPr>
            <p:spPr>
              <a:xfrm flipH="1">
                <a:off x="2848" y="268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11" name="Google Shape;911;p7"/>
              <p:cNvCxnSpPr/>
              <p:nvPr/>
            </p:nvCxnSpPr>
            <p:spPr>
              <a:xfrm flipH="1">
                <a:off x="2944" y="273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12" name="Google Shape;912;p7"/>
              <p:cNvCxnSpPr/>
              <p:nvPr/>
            </p:nvCxnSpPr>
            <p:spPr>
              <a:xfrm flipH="1">
                <a:off x="3040" y="278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13" name="Google Shape;913;p7"/>
              <p:cNvCxnSpPr/>
              <p:nvPr/>
            </p:nvCxnSpPr>
            <p:spPr>
              <a:xfrm flipH="1">
                <a:off x="3136" y="283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14" name="Google Shape;914;p7"/>
              <p:cNvCxnSpPr/>
              <p:nvPr/>
            </p:nvCxnSpPr>
            <p:spPr>
              <a:xfrm flipH="1">
                <a:off x="3232" y="288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15" name="Google Shape;915;p7"/>
              <p:cNvCxnSpPr/>
              <p:nvPr/>
            </p:nvCxnSpPr>
            <p:spPr>
              <a:xfrm flipH="1">
                <a:off x="3328" y="292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16" name="Google Shape;916;p7"/>
              <p:cNvCxnSpPr/>
              <p:nvPr/>
            </p:nvCxnSpPr>
            <p:spPr>
              <a:xfrm flipH="1">
                <a:off x="3424" y="297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17" name="Google Shape;917;p7"/>
              <p:cNvCxnSpPr/>
              <p:nvPr/>
            </p:nvCxnSpPr>
            <p:spPr>
              <a:xfrm flipH="1">
                <a:off x="3520" y="302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18" name="Google Shape;918;p7"/>
              <p:cNvCxnSpPr/>
              <p:nvPr/>
            </p:nvCxnSpPr>
            <p:spPr>
              <a:xfrm flipH="1">
                <a:off x="3616" y="307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19" name="Google Shape;919;p7"/>
              <p:cNvCxnSpPr/>
              <p:nvPr/>
            </p:nvCxnSpPr>
            <p:spPr>
              <a:xfrm flipH="1">
                <a:off x="3712" y="312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20" name="Google Shape;920;p7"/>
              <p:cNvCxnSpPr/>
              <p:nvPr/>
            </p:nvCxnSpPr>
            <p:spPr>
              <a:xfrm flipH="1">
                <a:off x="3808" y="316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21" name="Google Shape;921;p7"/>
              <p:cNvCxnSpPr/>
              <p:nvPr/>
            </p:nvCxnSpPr>
            <p:spPr>
              <a:xfrm flipH="1">
                <a:off x="3904" y="321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22" name="Google Shape;922;p7"/>
              <p:cNvCxnSpPr/>
              <p:nvPr/>
            </p:nvCxnSpPr>
            <p:spPr>
              <a:xfrm flipH="1">
                <a:off x="4000" y="326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23" name="Google Shape;923;p7"/>
              <p:cNvCxnSpPr/>
              <p:nvPr/>
            </p:nvCxnSpPr>
            <p:spPr>
              <a:xfrm flipH="1">
                <a:off x="4096" y="331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24" name="Google Shape;924;p7"/>
              <p:cNvCxnSpPr/>
              <p:nvPr/>
            </p:nvCxnSpPr>
            <p:spPr>
              <a:xfrm flipH="1">
                <a:off x="4192" y="336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25" name="Google Shape;925;p7"/>
              <p:cNvCxnSpPr/>
              <p:nvPr/>
            </p:nvCxnSpPr>
            <p:spPr>
              <a:xfrm flipH="1">
                <a:off x="4288" y="340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26" name="Google Shape;926;p7"/>
              <p:cNvCxnSpPr/>
              <p:nvPr/>
            </p:nvCxnSpPr>
            <p:spPr>
              <a:xfrm flipH="1">
                <a:off x="4384" y="345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27" name="Google Shape;927;p7"/>
              <p:cNvCxnSpPr/>
              <p:nvPr/>
            </p:nvCxnSpPr>
            <p:spPr>
              <a:xfrm flipH="1">
                <a:off x="4480" y="350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28" name="Google Shape;928;p7"/>
              <p:cNvCxnSpPr/>
              <p:nvPr/>
            </p:nvCxnSpPr>
            <p:spPr>
              <a:xfrm flipH="1">
                <a:off x="4576" y="355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29" name="Google Shape;929;p7"/>
              <p:cNvCxnSpPr/>
              <p:nvPr/>
            </p:nvCxnSpPr>
            <p:spPr>
              <a:xfrm flipH="1">
                <a:off x="4672" y="360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30" name="Google Shape;930;p7"/>
              <p:cNvCxnSpPr/>
              <p:nvPr/>
            </p:nvCxnSpPr>
            <p:spPr>
              <a:xfrm flipH="1">
                <a:off x="844" y="168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66FF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</p:grpSp>
      </p:grpSp>
      <p:grpSp>
        <p:nvGrpSpPr>
          <p:cNvPr id="931" name="Google Shape;931;p7"/>
          <p:cNvGrpSpPr/>
          <p:nvPr/>
        </p:nvGrpSpPr>
        <p:grpSpPr>
          <a:xfrm>
            <a:off x="1219200" y="1068387"/>
            <a:ext cx="3543300" cy="4748212"/>
            <a:chOff x="768" y="1633"/>
            <a:chExt cx="4016" cy="2015"/>
          </a:xfrm>
        </p:grpSpPr>
        <p:cxnSp>
          <p:nvCxnSpPr>
            <p:cNvPr id="932" name="Google Shape;932;p7"/>
            <p:cNvCxnSpPr/>
            <p:nvPr/>
          </p:nvCxnSpPr>
          <p:spPr>
            <a:xfrm>
              <a:off x="768" y="1633"/>
              <a:ext cx="4016" cy="2015"/>
            </a:xfrm>
            <a:prstGeom prst="straightConnector1">
              <a:avLst/>
            </a:prstGeom>
            <a:noFill/>
            <a:ln cap="flat" cmpd="sng" w="25400">
              <a:solidFill>
                <a:srgbClr val="99009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933" name="Google Shape;933;p7"/>
            <p:cNvGrpSpPr/>
            <p:nvPr/>
          </p:nvGrpSpPr>
          <p:grpSpPr>
            <a:xfrm>
              <a:off x="844" y="1682"/>
              <a:ext cx="3860" cy="1966"/>
              <a:chOff x="844" y="1682"/>
              <a:chExt cx="3860" cy="1966"/>
            </a:xfrm>
          </p:grpSpPr>
          <p:cxnSp>
            <p:nvCxnSpPr>
              <p:cNvPr id="934" name="Google Shape;934;p7"/>
              <p:cNvCxnSpPr/>
              <p:nvPr/>
            </p:nvCxnSpPr>
            <p:spPr>
              <a:xfrm flipH="1">
                <a:off x="928" y="172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35" name="Google Shape;935;p7"/>
              <p:cNvCxnSpPr/>
              <p:nvPr/>
            </p:nvCxnSpPr>
            <p:spPr>
              <a:xfrm flipH="1">
                <a:off x="1024" y="177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36" name="Google Shape;936;p7"/>
              <p:cNvCxnSpPr/>
              <p:nvPr/>
            </p:nvCxnSpPr>
            <p:spPr>
              <a:xfrm flipH="1">
                <a:off x="1120" y="182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37" name="Google Shape;937;p7"/>
              <p:cNvCxnSpPr/>
              <p:nvPr/>
            </p:nvCxnSpPr>
            <p:spPr>
              <a:xfrm flipH="1">
                <a:off x="1216" y="187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38" name="Google Shape;938;p7"/>
              <p:cNvCxnSpPr/>
              <p:nvPr/>
            </p:nvCxnSpPr>
            <p:spPr>
              <a:xfrm flipH="1">
                <a:off x="1312" y="192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39" name="Google Shape;939;p7"/>
              <p:cNvCxnSpPr/>
              <p:nvPr/>
            </p:nvCxnSpPr>
            <p:spPr>
              <a:xfrm flipH="1">
                <a:off x="1408" y="196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40" name="Google Shape;940;p7"/>
              <p:cNvCxnSpPr/>
              <p:nvPr/>
            </p:nvCxnSpPr>
            <p:spPr>
              <a:xfrm flipH="1">
                <a:off x="1504" y="201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41" name="Google Shape;941;p7"/>
              <p:cNvCxnSpPr/>
              <p:nvPr/>
            </p:nvCxnSpPr>
            <p:spPr>
              <a:xfrm flipH="1">
                <a:off x="1600" y="206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42" name="Google Shape;942;p7"/>
              <p:cNvCxnSpPr/>
              <p:nvPr/>
            </p:nvCxnSpPr>
            <p:spPr>
              <a:xfrm flipH="1">
                <a:off x="1696" y="211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43" name="Google Shape;943;p7"/>
              <p:cNvCxnSpPr/>
              <p:nvPr/>
            </p:nvCxnSpPr>
            <p:spPr>
              <a:xfrm flipH="1">
                <a:off x="1792" y="216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44" name="Google Shape;944;p7"/>
              <p:cNvCxnSpPr/>
              <p:nvPr/>
            </p:nvCxnSpPr>
            <p:spPr>
              <a:xfrm flipH="1">
                <a:off x="1888" y="220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45" name="Google Shape;945;p7"/>
              <p:cNvCxnSpPr/>
              <p:nvPr/>
            </p:nvCxnSpPr>
            <p:spPr>
              <a:xfrm flipH="1">
                <a:off x="1984" y="225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46" name="Google Shape;946;p7"/>
              <p:cNvCxnSpPr/>
              <p:nvPr/>
            </p:nvCxnSpPr>
            <p:spPr>
              <a:xfrm flipH="1">
                <a:off x="2080" y="230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47" name="Google Shape;947;p7"/>
              <p:cNvCxnSpPr/>
              <p:nvPr/>
            </p:nvCxnSpPr>
            <p:spPr>
              <a:xfrm flipH="1">
                <a:off x="2176" y="235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48" name="Google Shape;948;p7"/>
              <p:cNvCxnSpPr/>
              <p:nvPr/>
            </p:nvCxnSpPr>
            <p:spPr>
              <a:xfrm flipH="1">
                <a:off x="2272" y="240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49" name="Google Shape;949;p7"/>
              <p:cNvCxnSpPr/>
              <p:nvPr/>
            </p:nvCxnSpPr>
            <p:spPr>
              <a:xfrm flipH="1">
                <a:off x="2368" y="244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50" name="Google Shape;950;p7"/>
              <p:cNvCxnSpPr/>
              <p:nvPr/>
            </p:nvCxnSpPr>
            <p:spPr>
              <a:xfrm flipH="1">
                <a:off x="2464" y="249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51" name="Google Shape;951;p7"/>
              <p:cNvCxnSpPr/>
              <p:nvPr/>
            </p:nvCxnSpPr>
            <p:spPr>
              <a:xfrm flipH="1">
                <a:off x="2560" y="254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52" name="Google Shape;952;p7"/>
              <p:cNvCxnSpPr/>
              <p:nvPr/>
            </p:nvCxnSpPr>
            <p:spPr>
              <a:xfrm flipH="1">
                <a:off x="2656" y="259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53" name="Google Shape;953;p7"/>
              <p:cNvCxnSpPr/>
              <p:nvPr/>
            </p:nvCxnSpPr>
            <p:spPr>
              <a:xfrm flipH="1">
                <a:off x="2752" y="264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54" name="Google Shape;954;p7"/>
              <p:cNvCxnSpPr/>
              <p:nvPr/>
            </p:nvCxnSpPr>
            <p:spPr>
              <a:xfrm flipH="1">
                <a:off x="2848" y="268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55" name="Google Shape;955;p7"/>
              <p:cNvCxnSpPr/>
              <p:nvPr/>
            </p:nvCxnSpPr>
            <p:spPr>
              <a:xfrm flipH="1">
                <a:off x="2944" y="273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56" name="Google Shape;956;p7"/>
              <p:cNvCxnSpPr/>
              <p:nvPr/>
            </p:nvCxnSpPr>
            <p:spPr>
              <a:xfrm flipH="1">
                <a:off x="3040" y="278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57" name="Google Shape;957;p7"/>
              <p:cNvCxnSpPr/>
              <p:nvPr/>
            </p:nvCxnSpPr>
            <p:spPr>
              <a:xfrm flipH="1">
                <a:off x="3136" y="283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58" name="Google Shape;958;p7"/>
              <p:cNvCxnSpPr/>
              <p:nvPr/>
            </p:nvCxnSpPr>
            <p:spPr>
              <a:xfrm flipH="1">
                <a:off x="3232" y="288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59" name="Google Shape;959;p7"/>
              <p:cNvCxnSpPr/>
              <p:nvPr/>
            </p:nvCxnSpPr>
            <p:spPr>
              <a:xfrm flipH="1">
                <a:off x="3328" y="292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60" name="Google Shape;960;p7"/>
              <p:cNvCxnSpPr/>
              <p:nvPr/>
            </p:nvCxnSpPr>
            <p:spPr>
              <a:xfrm flipH="1">
                <a:off x="3424" y="297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61" name="Google Shape;961;p7"/>
              <p:cNvCxnSpPr/>
              <p:nvPr/>
            </p:nvCxnSpPr>
            <p:spPr>
              <a:xfrm flipH="1">
                <a:off x="3520" y="302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62" name="Google Shape;962;p7"/>
              <p:cNvCxnSpPr/>
              <p:nvPr/>
            </p:nvCxnSpPr>
            <p:spPr>
              <a:xfrm flipH="1">
                <a:off x="3616" y="307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63" name="Google Shape;963;p7"/>
              <p:cNvCxnSpPr/>
              <p:nvPr/>
            </p:nvCxnSpPr>
            <p:spPr>
              <a:xfrm flipH="1">
                <a:off x="3712" y="312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64" name="Google Shape;964;p7"/>
              <p:cNvCxnSpPr/>
              <p:nvPr/>
            </p:nvCxnSpPr>
            <p:spPr>
              <a:xfrm flipH="1">
                <a:off x="3808" y="316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65" name="Google Shape;965;p7"/>
              <p:cNvCxnSpPr/>
              <p:nvPr/>
            </p:nvCxnSpPr>
            <p:spPr>
              <a:xfrm flipH="1">
                <a:off x="3904" y="321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66" name="Google Shape;966;p7"/>
              <p:cNvCxnSpPr/>
              <p:nvPr/>
            </p:nvCxnSpPr>
            <p:spPr>
              <a:xfrm flipH="1">
                <a:off x="4000" y="326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67" name="Google Shape;967;p7"/>
              <p:cNvCxnSpPr/>
              <p:nvPr/>
            </p:nvCxnSpPr>
            <p:spPr>
              <a:xfrm flipH="1">
                <a:off x="4096" y="331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68" name="Google Shape;968;p7"/>
              <p:cNvCxnSpPr/>
              <p:nvPr/>
            </p:nvCxnSpPr>
            <p:spPr>
              <a:xfrm flipH="1">
                <a:off x="4192" y="336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69" name="Google Shape;969;p7"/>
              <p:cNvCxnSpPr/>
              <p:nvPr/>
            </p:nvCxnSpPr>
            <p:spPr>
              <a:xfrm flipH="1">
                <a:off x="4288" y="3408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70" name="Google Shape;970;p7"/>
              <p:cNvCxnSpPr/>
              <p:nvPr/>
            </p:nvCxnSpPr>
            <p:spPr>
              <a:xfrm flipH="1">
                <a:off x="4384" y="3456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71" name="Google Shape;971;p7"/>
              <p:cNvCxnSpPr/>
              <p:nvPr/>
            </p:nvCxnSpPr>
            <p:spPr>
              <a:xfrm flipH="1">
                <a:off x="4480" y="3504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72" name="Google Shape;972;p7"/>
              <p:cNvCxnSpPr/>
              <p:nvPr/>
            </p:nvCxnSpPr>
            <p:spPr>
              <a:xfrm flipH="1">
                <a:off x="4576" y="355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73" name="Google Shape;973;p7"/>
              <p:cNvCxnSpPr/>
              <p:nvPr/>
            </p:nvCxnSpPr>
            <p:spPr>
              <a:xfrm flipH="1">
                <a:off x="4672" y="3600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974" name="Google Shape;974;p7"/>
              <p:cNvCxnSpPr/>
              <p:nvPr/>
            </p:nvCxnSpPr>
            <p:spPr>
              <a:xfrm flipH="1">
                <a:off x="844" y="1682"/>
                <a:ext cx="32" cy="48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0099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</p:grpSp>
      </p:grpSp>
      <p:grpSp>
        <p:nvGrpSpPr>
          <p:cNvPr id="975" name="Google Shape;975;p7"/>
          <p:cNvGrpSpPr/>
          <p:nvPr/>
        </p:nvGrpSpPr>
        <p:grpSpPr>
          <a:xfrm>
            <a:off x="5257800" y="1387475"/>
            <a:ext cx="2063750" cy="4419600"/>
            <a:chOff x="3312" y="874"/>
            <a:chExt cx="1300" cy="2784"/>
          </a:xfrm>
        </p:grpSpPr>
        <p:sp>
          <p:nvSpPr>
            <p:cNvPr id="976" name="Google Shape;976;p7"/>
            <p:cNvSpPr txBox="1"/>
            <p:nvPr/>
          </p:nvSpPr>
          <p:spPr>
            <a:xfrm>
              <a:off x="3457" y="1104"/>
              <a:ext cx="115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Demand B  ≤ 90</a:t>
              </a:r>
              <a:endParaRPr/>
            </a:p>
          </p:txBody>
        </p:sp>
        <p:grpSp>
          <p:nvGrpSpPr>
            <p:cNvPr id="977" name="Google Shape;977;p7"/>
            <p:cNvGrpSpPr/>
            <p:nvPr/>
          </p:nvGrpSpPr>
          <p:grpSpPr>
            <a:xfrm>
              <a:off x="3312" y="874"/>
              <a:ext cx="48" cy="2784"/>
              <a:chOff x="3312" y="874"/>
              <a:chExt cx="48" cy="2784"/>
            </a:xfrm>
          </p:grpSpPr>
          <p:cxnSp>
            <p:nvCxnSpPr>
              <p:cNvPr id="978" name="Google Shape;978;p7"/>
              <p:cNvCxnSpPr/>
              <p:nvPr/>
            </p:nvCxnSpPr>
            <p:spPr>
              <a:xfrm rot="10800000">
                <a:off x="3360" y="874"/>
                <a:ext cx="0" cy="2784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grpSp>
            <p:nvGrpSpPr>
              <p:cNvPr id="979" name="Google Shape;979;p7"/>
              <p:cNvGrpSpPr/>
              <p:nvPr/>
            </p:nvGrpSpPr>
            <p:grpSpPr>
              <a:xfrm>
                <a:off x="3312" y="2016"/>
                <a:ext cx="48" cy="1558"/>
                <a:chOff x="3312" y="2016"/>
                <a:chExt cx="48" cy="1558"/>
              </a:xfrm>
            </p:grpSpPr>
            <p:cxnSp>
              <p:nvCxnSpPr>
                <p:cNvPr id="980" name="Google Shape;980;p7"/>
                <p:cNvCxnSpPr/>
                <p:nvPr/>
              </p:nvCxnSpPr>
              <p:spPr>
                <a:xfrm rot="10800000">
                  <a:off x="3312" y="2016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81" name="Google Shape;981;p7"/>
                <p:cNvCxnSpPr/>
                <p:nvPr/>
              </p:nvCxnSpPr>
              <p:spPr>
                <a:xfrm rot="10800000">
                  <a:off x="3312" y="2098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82" name="Google Shape;982;p7"/>
                <p:cNvCxnSpPr/>
                <p:nvPr/>
              </p:nvCxnSpPr>
              <p:spPr>
                <a:xfrm rot="10800000">
                  <a:off x="3312" y="2180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83" name="Google Shape;983;p7"/>
                <p:cNvCxnSpPr/>
                <p:nvPr/>
              </p:nvCxnSpPr>
              <p:spPr>
                <a:xfrm rot="10800000">
                  <a:off x="3312" y="2262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84" name="Google Shape;984;p7"/>
                <p:cNvCxnSpPr/>
                <p:nvPr/>
              </p:nvCxnSpPr>
              <p:spPr>
                <a:xfrm rot="10800000">
                  <a:off x="3312" y="2344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85" name="Google Shape;985;p7"/>
                <p:cNvCxnSpPr/>
                <p:nvPr/>
              </p:nvCxnSpPr>
              <p:spPr>
                <a:xfrm rot="10800000">
                  <a:off x="3312" y="2426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86" name="Google Shape;986;p7"/>
                <p:cNvCxnSpPr/>
                <p:nvPr/>
              </p:nvCxnSpPr>
              <p:spPr>
                <a:xfrm rot="10800000">
                  <a:off x="3312" y="2508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87" name="Google Shape;987;p7"/>
                <p:cNvCxnSpPr/>
                <p:nvPr/>
              </p:nvCxnSpPr>
              <p:spPr>
                <a:xfrm rot="10800000">
                  <a:off x="3312" y="2590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88" name="Google Shape;988;p7"/>
                <p:cNvCxnSpPr/>
                <p:nvPr/>
              </p:nvCxnSpPr>
              <p:spPr>
                <a:xfrm rot="10800000">
                  <a:off x="3312" y="2672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89" name="Google Shape;989;p7"/>
                <p:cNvCxnSpPr/>
                <p:nvPr/>
              </p:nvCxnSpPr>
              <p:spPr>
                <a:xfrm rot="10800000">
                  <a:off x="3312" y="2754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90" name="Google Shape;990;p7"/>
                <p:cNvCxnSpPr/>
                <p:nvPr/>
              </p:nvCxnSpPr>
              <p:spPr>
                <a:xfrm rot="10800000">
                  <a:off x="3312" y="2836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91" name="Google Shape;991;p7"/>
                <p:cNvCxnSpPr/>
                <p:nvPr/>
              </p:nvCxnSpPr>
              <p:spPr>
                <a:xfrm rot="10800000">
                  <a:off x="3312" y="2918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92" name="Google Shape;992;p7"/>
                <p:cNvCxnSpPr/>
                <p:nvPr/>
              </p:nvCxnSpPr>
              <p:spPr>
                <a:xfrm rot="10800000">
                  <a:off x="3312" y="3000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93" name="Google Shape;993;p7"/>
                <p:cNvCxnSpPr/>
                <p:nvPr/>
              </p:nvCxnSpPr>
              <p:spPr>
                <a:xfrm rot="10800000">
                  <a:off x="3312" y="3082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94" name="Google Shape;994;p7"/>
                <p:cNvCxnSpPr/>
                <p:nvPr/>
              </p:nvCxnSpPr>
              <p:spPr>
                <a:xfrm rot="10800000">
                  <a:off x="3312" y="3164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95" name="Google Shape;995;p7"/>
                <p:cNvCxnSpPr/>
                <p:nvPr/>
              </p:nvCxnSpPr>
              <p:spPr>
                <a:xfrm rot="10800000">
                  <a:off x="3312" y="3246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96" name="Google Shape;996;p7"/>
                <p:cNvCxnSpPr/>
                <p:nvPr/>
              </p:nvCxnSpPr>
              <p:spPr>
                <a:xfrm rot="10800000">
                  <a:off x="3312" y="3328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97" name="Google Shape;997;p7"/>
                <p:cNvCxnSpPr/>
                <p:nvPr/>
              </p:nvCxnSpPr>
              <p:spPr>
                <a:xfrm rot="10800000">
                  <a:off x="3312" y="3410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98" name="Google Shape;998;p7"/>
                <p:cNvCxnSpPr/>
                <p:nvPr/>
              </p:nvCxnSpPr>
              <p:spPr>
                <a:xfrm rot="10800000">
                  <a:off x="3312" y="3492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  <p:cxnSp>
              <p:nvCxnSpPr>
                <p:cNvPr id="999" name="Google Shape;999;p7"/>
                <p:cNvCxnSpPr/>
                <p:nvPr/>
              </p:nvCxnSpPr>
              <p:spPr>
                <a:xfrm rot="10800000">
                  <a:off x="3312" y="3574"/>
                  <a:ext cx="4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hlink"/>
                  </a:solidFill>
                  <a:prstDash val="solid"/>
                  <a:miter lim="800000"/>
                  <a:headEnd len="med" w="med" type="none"/>
                  <a:tailEnd len="sm" w="sm" type="stealth"/>
                </a:ln>
              </p:spPr>
            </p:cxnSp>
          </p:grpSp>
          <p:cxnSp>
            <p:nvCxnSpPr>
              <p:cNvPr id="1000" name="Google Shape;1000;p7"/>
              <p:cNvCxnSpPr/>
              <p:nvPr/>
            </p:nvCxnSpPr>
            <p:spPr>
              <a:xfrm rot="10800000">
                <a:off x="3312" y="950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001" name="Google Shape;1001;p7"/>
              <p:cNvCxnSpPr/>
              <p:nvPr/>
            </p:nvCxnSpPr>
            <p:spPr>
              <a:xfrm rot="10800000">
                <a:off x="3312" y="1032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002" name="Google Shape;1002;p7"/>
              <p:cNvCxnSpPr/>
              <p:nvPr/>
            </p:nvCxnSpPr>
            <p:spPr>
              <a:xfrm rot="10800000">
                <a:off x="3312" y="1114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003" name="Google Shape;1003;p7"/>
              <p:cNvCxnSpPr/>
              <p:nvPr/>
            </p:nvCxnSpPr>
            <p:spPr>
              <a:xfrm rot="10800000">
                <a:off x="3312" y="1196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004" name="Google Shape;1004;p7"/>
              <p:cNvCxnSpPr/>
              <p:nvPr/>
            </p:nvCxnSpPr>
            <p:spPr>
              <a:xfrm rot="10800000">
                <a:off x="3312" y="1278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005" name="Google Shape;1005;p7"/>
              <p:cNvCxnSpPr/>
              <p:nvPr/>
            </p:nvCxnSpPr>
            <p:spPr>
              <a:xfrm rot="10800000">
                <a:off x="3312" y="1360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006" name="Google Shape;1006;p7"/>
              <p:cNvCxnSpPr/>
              <p:nvPr/>
            </p:nvCxnSpPr>
            <p:spPr>
              <a:xfrm rot="10800000">
                <a:off x="3312" y="1442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007" name="Google Shape;1007;p7"/>
              <p:cNvCxnSpPr/>
              <p:nvPr/>
            </p:nvCxnSpPr>
            <p:spPr>
              <a:xfrm rot="10800000">
                <a:off x="3312" y="1524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008" name="Google Shape;1008;p7"/>
              <p:cNvCxnSpPr/>
              <p:nvPr/>
            </p:nvCxnSpPr>
            <p:spPr>
              <a:xfrm rot="10800000">
                <a:off x="3312" y="1606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009" name="Google Shape;1009;p7"/>
              <p:cNvCxnSpPr/>
              <p:nvPr/>
            </p:nvCxnSpPr>
            <p:spPr>
              <a:xfrm rot="10800000">
                <a:off x="3312" y="1688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010" name="Google Shape;1010;p7"/>
              <p:cNvCxnSpPr/>
              <p:nvPr/>
            </p:nvCxnSpPr>
            <p:spPr>
              <a:xfrm rot="10800000">
                <a:off x="3312" y="1770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011" name="Google Shape;1011;p7"/>
              <p:cNvCxnSpPr/>
              <p:nvPr/>
            </p:nvCxnSpPr>
            <p:spPr>
              <a:xfrm rot="10800000">
                <a:off x="3312" y="1852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012" name="Google Shape;1012;p7"/>
              <p:cNvCxnSpPr/>
              <p:nvPr/>
            </p:nvCxnSpPr>
            <p:spPr>
              <a:xfrm rot="10800000">
                <a:off x="3312" y="1934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  <p:cxnSp>
            <p:nvCxnSpPr>
              <p:cNvPr id="1013" name="Google Shape;1013;p7"/>
              <p:cNvCxnSpPr/>
              <p:nvPr/>
            </p:nvCxnSpPr>
            <p:spPr>
              <a:xfrm rot="10800000">
                <a:off x="3312" y="2016"/>
                <a:ext cx="4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sm" w="sm" type="stealth"/>
              </a:ln>
            </p:spPr>
          </p:cxnSp>
        </p:grpSp>
      </p:grpSp>
      <p:cxnSp>
        <p:nvCxnSpPr>
          <p:cNvPr id="1014" name="Google Shape;1014;p7"/>
          <p:cNvCxnSpPr/>
          <p:nvPr/>
        </p:nvCxnSpPr>
        <p:spPr>
          <a:xfrm>
            <a:off x="1193800" y="3505200"/>
            <a:ext cx="2808287" cy="22987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15" name="Google Shape;1015;p7"/>
          <p:cNvSpPr txBox="1"/>
          <p:nvPr/>
        </p:nvSpPr>
        <p:spPr>
          <a:xfrm rot="2400000">
            <a:off x="2133600" y="4267200"/>
            <a:ext cx="1201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$ 3,000</a:t>
            </a:r>
            <a:endParaRPr/>
          </a:p>
        </p:txBody>
      </p:sp>
      <p:sp>
        <p:nvSpPr>
          <p:cNvPr id="1016" name="Google Shape;1016;p7"/>
          <p:cNvSpPr txBox="1"/>
          <p:nvPr/>
        </p:nvSpPr>
        <p:spPr>
          <a:xfrm>
            <a:off x="1981200" y="762000"/>
            <a:ext cx="2667000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 we make $ 3,000?</a:t>
            </a:r>
            <a:endParaRPr/>
          </a:p>
        </p:txBody>
      </p:sp>
      <p:grpSp>
        <p:nvGrpSpPr>
          <p:cNvPr id="1017" name="Google Shape;1017;p7"/>
          <p:cNvGrpSpPr/>
          <p:nvPr/>
        </p:nvGrpSpPr>
        <p:grpSpPr>
          <a:xfrm>
            <a:off x="1295400" y="2438400"/>
            <a:ext cx="5657850" cy="1066800"/>
            <a:chOff x="768" y="1145"/>
            <a:chExt cx="3165" cy="487"/>
          </a:xfrm>
        </p:grpSpPr>
        <p:cxnSp>
          <p:nvCxnSpPr>
            <p:cNvPr id="1018" name="Google Shape;1018;p7"/>
            <p:cNvCxnSpPr/>
            <p:nvPr/>
          </p:nvCxnSpPr>
          <p:spPr>
            <a:xfrm flipH="1">
              <a:off x="768" y="1344"/>
              <a:ext cx="528" cy="288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med" w="med" type="none"/>
              <a:tailEnd len="lg" w="lg" type="triangle"/>
            </a:ln>
          </p:spPr>
        </p:cxnSp>
        <p:sp>
          <p:nvSpPr>
            <p:cNvPr id="1019" name="Google Shape;1019;p7"/>
            <p:cNvSpPr txBox="1"/>
            <p:nvPr/>
          </p:nvSpPr>
          <p:spPr>
            <a:xfrm>
              <a:off x="1382" y="1145"/>
              <a:ext cx="2551" cy="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800"/>
                <a:buFont typeface="Arial"/>
                <a:buNone/>
              </a:pPr>
              <a:r>
                <a:rPr b="1" i="0" lang="en-US" sz="2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50 Cakes @ $60  = $3,000 </a:t>
              </a:r>
              <a:endParaRPr/>
            </a:p>
          </p:txBody>
        </p:sp>
      </p:grpSp>
      <p:grpSp>
        <p:nvGrpSpPr>
          <p:cNvPr id="1020" name="Google Shape;1020;p7"/>
          <p:cNvGrpSpPr/>
          <p:nvPr/>
        </p:nvGrpSpPr>
        <p:grpSpPr>
          <a:xfrm>
            <a:off x="3960812" y="4724400"/>
            <a:ext cx="4318000" cy="1066800"/>
            <a:chOff x="768" y="1145"/>
            <a:chExt cx="2416" cy="487"/>
          </a:xfrm>
        </p:grpSpPr>
        <p:cxnSp>
          <p:nvCxnSpPr>
            <p:cNvPr id="1021" name="Google Shape;1021;p7"/>
            <p:cNvCxnSpPr/>
            <p:nvPr/>
          </p:nvCxnSpPr>
          <p:spPr>
            <a:xfrm flipH="1">
              <a:off x="768" y="1344"/>
              <a:ext cx="528" cy="288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med" w="med" type="none"/>
              <a:tailEnd len="lg" w="lg" type="triangle"/>
            </a:ln>
          </p:spPr>
        </p:cxnSp>
        <p:sp>
          <p:nvSpPr>
            <p:cNvPr id="1022" name="Google Shape;1022;p7"/>
            <p:cNvSpPr txBox="1"/>
            <p:nvPr/>
          </p:nvSpPr>
          <p:spPr>
            <a:xfrm>
              <a:off x="1382" y="1145"/>
              <a:ext cx="1802" cy="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800"/>
                <a:buFont typeface="Arial"/>
                <a:buNone/>
              </a:pPr>
              <a:r>
                <a:rPr b="1" i="0" lang="en-US" sz="2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60 Breads @ $50 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800"/>
                <a:buFont typeface="Arial"/>
                <a:buNone/>
              </a:pPr>
              <a:r>
                <a:rPr b="1" i="0" lang="en-US" sz="2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= $3,000 </a:t>
              </a:r>
              <a:endParaRPr/>
            </a:p>
          </p:txBody>
        </p:sp>
      </p:grpSp>
      <p:grpSp>
        <p:nvGrpSpPr>
          <p:cNvPr id="1023" name="Google Shape;1023;p7"/>
          <p:cNvGrpSpPr/>
          <p:nvPr/>
        </p:nvGrpSpPr>
        <p:grpSpPr>
          <a:xfrm>
            <a:off x="1193800" y="4467851"/>
            <a:ext cx="1427162" cy="1348749"/>
            <a:chOff x="752" y="2814"/>
            <a:chExt cx="899" cy="850"/>
          </a:xfrm>
        </p:grpSpPr>
        <p:cxnSp>
          <p:nvCxnSpPr>
            <p:cNvPr id="1024" name="Google Shape;1024;p7"/>
            <p:cNvCxnSpPr/>
            <p:nvPr/>
          </p:nvCxnSpPr>
          <p:spPr>
            <a:xfrm>
              <a:off x="752" y="2928"/>
              <a:ext cx="899" cy="736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025" name="Google Shape;1025;p7"/>
            <p:cNvSpPr txBox="1"/>
            <p:nvPr/>
          </p:nvSpPr>
          <p:spPr>
            <a:xfrm rot="2400000">
              <a:off x="864" y="3024"/>
              <a:ext cx="75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1" i="0" lang="en-US" sz="24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$ 1,500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2" name="Google Shape;1032;p8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33" name="Google Shape;1033;p8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34" name="Google Shape;1034;p8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035" name="Google Shape;1035;p8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1036" name="Google Shape;1036;p8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1037" name="Google Shape;1037;p8"/>
          <p:cNvSpPr txBox="1"/>
          <p:nvPr/>
        </p:nvSpPr>
        <p:spPr>
          <a:xfrm>
            <a:off x="5487987" y="838200"/>
            <a:ext cx="26781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66FF"/>
                </a:solidFill>
                <a:latin typeface="Arial"/>
                <a:ea typeface="Arial"/>
                <a:cs typeface="Arial"/>
                <a:sym typeface="Arial"/>
              </a:rPr>
              <a:t>Labor 30B + 60C ≤ 4200</a:t>
            </a:r>
            <a:endParaRPr/>
          </a:p>
        </p:txBody>
      </p:sp>
      <p:sp>
        <p:nvSpPr>
          <p:cNvPr id="1038" name="Google Shape;1038;p8"/>
          <p:cNvSpPr txBox="1"/>
          <p:nvPr/>
        </p:nvSpPr>
        <p:spPr>
          <a:xfrm>
            <a:off x="5487987" y="1295400"/>
            <a:ext cx="26400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Oven 60B + 45C ≤ 4650</a:t>
            </a:r>
            <a:endParaRPr/>
          </a:p>
        </p:txBody>
      </p:sp>
      <p:cxnSp>
        <p:nvCxnSpPr>
          <p:cNvPr id="1039" name="Google Shape;1039;p8"/>
          <p:cNvCxnSpPr/>
          <p:nvPr/>
        </p:nvCxnSpPr>
        <p:spPr>
          <a:xfrm rot="-1620000">
            <a:off x="1397000" y="1460500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40" name="Google Shape;1040;p8"/>
          <p:cNvSpPr txBox="1"/>
          <p:nvPr/>
        </p:nvSpPr>
        <p:spPr>
          <a:xfrm>
            <a:off x="5487987" y="2195512"/>
            <a:ext cx="18462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 C  ≤ 60</a:t>
            </a:r>
            <a:endParaRPr/>
          </a:p>
        </p:txBody>
      </p:sp>
      <p:cxnSp>
        <p:nvCxnSpPr>
          <p:cNvPr id="1041" name="Google Shape;1041;p8"/>
          <p:cNvCxnSpPr/>
          <p:nvPr/>
        </p:nvCxnSpPr>
        <p:spPr>
          <a:xfrm>
            <a:off x="1219200" y="25923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00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42" name="Google Shape;1042;p8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043" name="Google Shape;1043;p8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044" name="Google Shape;1044;p8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045" name="Google Shape;1045;p8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046" name="Google Shape;1046;p8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047" name="Google Shape;1047;p8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048" name="Google Shape;1048;p8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1049" name="Google Shape;1049;p8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050" name="Google Shape;1050;p8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051" name="Google Shape;1051;p8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52" name="Google Shape;1052;p8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53" name="Google Shape;1053;p8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54" name="Google Shape;1054;p8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55" name="Google Shape;1055;p8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56" name="Google Shape;1056;p8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57" name="Google Shape;1057;p8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58" name="Google Shape;1058;p8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59" name="Google Shape;1059;p8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60" name="Google Shape;1060;p8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61" name="Google Shape;1061;p8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62" name="Google Shape;1062;p8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63" name="Google Shape;1063;p8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64" name="Google Shape;1064;p8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65" name="Google Shape;1065;p8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66" name="Google Shape;1066;p8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067" name="Google Shape;1067;p8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068" name="Google Shape;1068;p8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069" name="Google Shape;1069;p8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070" name="Google Shape;1070;p8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071" name="Google Shape;1071;p8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072" name="Google Shape;1072;p8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1073" name="Google Shape;1073;p8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1074" name="Google Shape;1074;p8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75" name="Google Shape;1075;p8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76" name="Google Shape;1076;p8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77" name="Google Shape;1077;p8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78" name="Google Shape;1078;p8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79" name="Google Shape;1079;p8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0" name="Google Shape;1080;p8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1" name="Google Shape;1081;p8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2" name="Google Shape;1082;p8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3" name="Google Shape;1083;p8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4" name="Google Shape;1084;p8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5" name="Google Shape;1085;p8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6" name="Google Shape;1086;p8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7" name="Google Shape;1087;p8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8" name="Google Shape;1088;p8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9" name="Google Shape;1089;p8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0" name="Google Shape;1090;p8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1" name="Google Shape;1091;p8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2" name="Google Shape;1092;p8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3" name="Google Shape;1093;p8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4" name="Google Shape;1094;p8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5" name="Google Shape;1095;p8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6" name="Google Shape;1096;p8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7" name="Google Shape;1097;p8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8" name="Google Shape;1098;p8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9" name="Google Shape;1099;p8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00" name="Google Shape;1100;p8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01" name="Google Shape;1101;p8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02" name="Google Shape;1102;p8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03" name="Google Shape;1103;p8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04" name="Google Shape;1104;p8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05" name="Google Shape;1105;p8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06" name="Google Shape;1106;p8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07" name="Google Shape;1107;p8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08" name="Google Shape;1108;p8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09" name="Google Shape;1109;p8"/>
          <p:cNvCxnSpPr/>
          <p:nvPr/>
        </p:nvCxnSpPr>
        <p:spPr>
          <a:xfrm>
            <a:off x="1244600" y="26050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66FF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10" name="Google Shape;1110;p8"/>
          <p:cNvCxnSpPr/>
          <p:nvPr/>
        </p:nvCxnSpPr>
        <p:spPr>
          <a:xfrm>
            <a:off x="1219200" y="1068387"/>
            <a:ext cx="3543300" cy="4748212"/>
          </a:xfrm>
          <a:prstGeom prst="straightConnector1">
            <a:avLst/>
          </a:prstGeom>
          <a:noFill/>
          <a:ln cap="flat" cmpd="sng" w="25400">
            <a:solidFill>
              <a:srgbClr val="990099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11" name="Google Shape;1111;p8"/>
          <p:cNvSpPr txBox="1"/>
          <p:nvPr/>
        </p:nvSpPr>
        <p:spPr>
          <a:xfrm>
            <a:off x="5487987" y="1752600"/>
            <a:ext cx="18335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Demand B  ≤ 90</a:t>
            </a:r>
            <a:endParaRPr/>
          </a:p>
        </p:txBody>
      </p:sp>
      <p:cxnSp>
        <p:nvCxnSpPr>
          <p:cNvPr id="1112" name="Google Shape;1112;p8"/>
          <p:cNvCxnSpPr/>
          <p:nvPr/>
        </p:nvCxnSpPr>
        <p:spPr>
          <a:xfrm rot="10800000">
            <a:off x="5334000" y="1387475"/>
            <a:ext cx="0" cy="4419600"/>
          </a:xfrm>
          <a:prstGeom prst="straightConnector1">
            <a:avLst/>
          </a:prstGeom>
          <a:noFill/>
          <a:ln cap="flat" cmpd="sng" w="254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13" name="Google Shape;1113;p8"/>
          <p:cNvCxnSpPr/>
          <p:nvPr/>
        </p:nvCxnSpPr>
        <p:spPr>
          <a:xfrm>
            <a:off x="1193800" y="3505200"/>
            <a:ext cx="2808287" cy="22987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14" name="Google Shape;1114;p8"/>
          <p:cNvSpPr txBox="1"/>
          <p:nvPr/>
        </p:nvSpPr>
        <p:spPr>
          <a:xfrm rot="2400000">
            <a:off x="2133600" y="4267200"/>
            <a:ext cx="1201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$ 3,000</a:t>
            </a:r>
            <a:endParaRPr/>
          </a:p>
        </p:txBody>
      </p:sp>
      <p:sp>
        <p:nvSpPr>
          <p:cNvPr id="1115" name="Google Shape;1115;p8"/>
          <p:cNvSpPr txBox="1"/>
          <p:nvPr/>
        </p:nvSpPr>
        <p:spPr>
          <a:xfrm>
            <a:off x="1981200" y="762000"/>
            <a:ext cx="2667000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 we make $ 6,000?</a:t>
            </a:r>
            <a:endParaRPr/>
          </a:p>
        </p:txBody>
      </p:sp>
      <p:cxnSp>
        <p:nvCxnSpPr>
          <p:cNvPr id="1116" name="Google Shape;1116;p8"/>
          <p:cNvCxnSpPr/>
          <p:nvPr/>
        </p:nvCxnSpPr>
        <p:spPr>
          <a:xfrm>
            <a:off x="1219200" y="4648200"/>
            <a:ext cx="1427162" cy="1168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17" name="Google Shape;1117;p8"/>
          <p:cNvSpPr txBox="1"/>
          <p:nvPr/>
        </p:nvSpPr>
        <p:spPr>
          <a:xfrm rot="2400000">
            <a:off x="1397000" y="4800600"/>
            <a:ext cx="1201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$ 1,500</a:t>
            </a:r>
            <a:endParaRPr/>
          </a:p>
        </p:txBody>
      </p:sp>
      <p:cxnSp>
        <p:nvCxnSpPr>
          <p:cNvPr id="1118" name="Google Shape;1118;p8"/>
          <p:cNvCxnSpPr/>
          <p:nvPr/>
        </p:nvCxnSpPr>
        <p:spPr>
          <a:xfrm>
            <a:off x="1219200" y="1219200"/>
            <a:ext cx="5475287" cy="45847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19" name="Google Shape;1119;p8"/>
          <p:cNvSpPr txBox="1"/>
          <p:nvPr/>
        </p:nvSpPr>
        <p:spPr>
          <a:xfrm rot="2400000">
            <a:off x="3522662" y="3124200"/>
            <a:ext cx="1201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$ 6,000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9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6" name="Google Shape;1126;p9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27" name="Google Shape;1127;p9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28" name="Google Shape;1128;p9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129" name="Google Shape;1129;p9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1130" name="Google Shape;1130;p9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1131" name="Google Shape;1131;p9"/>
          <p:cNvSpPr txBox="1"/>
          <p:nvPr/>
        </p:nvSpPr>
        <p:spPr>
          <a:xfrm>
            <a:off x="5487987" y="838200"/>
            <a:ext cx="26781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66FF"/>
                </a:solidFill>
                <a:latin typeface="Arial"/>
                <a:ea typeface="Arial"/>
                <a:cs typeface="Arial"/>
                <a:sym typeface="Arial"/>
              </a:rPr>
              <a:t>Labor 30B + 60C ≤ 4200</a:t>
            </a:r>
            <a:endParaRPr/>
          </a:p>
        </p:txBody>
      </p:sp>
      <p:sp>
        <p:nvSpPr>
          <p:cNvPr id="1132" name="Google Shape;1132;p9"/>
          <p:cNvSpPr txBox="1"/>
          <p:nvPr/>
        </p:nvSpPr>
        <p:spPr>
          <a:xfrm>
            <a:off x="5487987" y="1295400"/>
            <a:ext cx="26400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Oven 60B + 45C ≤ 4650</a:t>
            </a:r>
            <a:endParaRPr/>
          </a:p>
        </p:txBody>
      </p:sp>
      <p:cxnSp>
        <p:nvCxnSpPr>
          <p:cNvPr id="1133" name="Google Shape;1133;p9"/>
          <p:cNvCxnSpPr/>
          <p:nvPr/>
        </p:nvCxnSpPr>
        <p:spPr>
          <a:xfrm rot="-1620000">
            <a:off x="1397000" y="1460500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34" name="Google Shape;1134;p9"/>
          <p:cNvSpPr txBox="1"/>
          <p:nvPr/>
        </p:nvSpPr>
        <p:spPr>
          <a:xfrm>
            <a:off x="5487987" y="2195512"/>
            <a:ext cx="18462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 C  ≤ 60</a:t>
            </a:r>
            <a:endParaRPr/>
          </a:p>
        </p:txBody>
      </p:sp>
      <p:cxnSp>
        <p:nvCxnSpPr>
          <p:cNvPr id="1135" name="Google Shape;1135;p9"/>
          <p:cNvCxnSpPr/>
          <p:nvPr/>
        </p:nvCxnSpPr>
        <p:spPr>
          <a:xfrm>
            <a:off x="1219200" y="25923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00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36" name="Google Shape;1136;p9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137" name="Google Shape;1137;p9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138" name="Google Shape;1138;p9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139" name="Google Shape;1139;p9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140" name="Google Shape;1140;p9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141" name="Google Shape;1141;p9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142" name="Google Shape;1142;p9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1143" name="Google Shape;1143;p9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144" name="Google Shape;1144;p9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145" name="Google Shape;1145;p9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46" name="Google Shape;1146;p9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47" name="Google Shape;1147;p9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48" name="Google Shape;1148;p9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49" name="Google Shape;1149;p9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50" name="Google Shape;1150;p9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51" name="Google Shape;1151;p9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52" name="Google Shape;1152;p9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53" name="Google Shape;1153;p9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54" name="Google Shape;1154;p9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55" name="Google Shape;1155;p9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56" name="Google Shape;1156;p9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57" name="Google Shape;1157;p9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58" name="Google Shape;1158;p9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59" name="Google Shape;1159;p9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60" name="Google Shape;1160;p9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161" name="Google Shape;1161;p9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162" name="Google Shape;1162;p9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163" name="Google Shape;1163;p9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164" name="Google Shape;1164;p9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165" name="Google Shape;1165;p9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166" name="Google Shape;1166;p9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1167" name="Google Shape;1167;p9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1168" name="Google Shape;1168;p9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69" name="Google Shape;1169;p9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70" name="Google Shape;1170;p9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71" name="Google Shape;1171;p9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72" name="Google Shape;1172;p9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73" name="Google Shape;1173;p9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74" name="Google Shape;1174;p9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75" name="Google Shape;1175;p9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76" name="Google Shape;1176;p9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77" name="Google Shape;1177;p9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78" name="Google Shape;1178;p9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79" name="Google Shape;1179;p9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80" name="Google Shape;1180;p9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81" name="Google Shape;1181;p9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82" name="Google Shape;1182;p9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83" name="Google Shape;1183;p9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84" name="Google Shape;1184;p9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85" name="Google Shape;1185;p9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86" name="Google Shape;1186;p9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87" name="Google Shape;1187;p9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88" name="Google Shape;1188;p9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89" name="Google Shape;1189;p9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90" name="Google Shape;1190;p9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91" name="Google Shape;1191;p9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92" name="Google Shape;1192;p9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93" name="Google Shape;1193;p9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94" name="Google Shape;1194;p9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95" name="Google Shape;1195;p9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96" name="Google Shape;1196;p9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97" name="Google Shape;1197;p9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98" name="Google Shape;1198;p9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99" name="Google Shape;1199;p9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00" name="Google Shape;1200;p9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01" name="Google Shape;1201;p9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02" name="Google Shape;1202;p9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03" name="Google Shape;1203;p9"/>
          <p:cNvCxnSpPr/>
          <p:nvPr/>
        </p:nvCxnSpPr>
        <p:spPr>
          <a:xfrm>
            <a:off x="1244600" y="26050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66FF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04" name="Google Shape;1204;p9"/>
          <p:cNvCxnSpPr/>
          <p:nvPr/>
        </p:nvCxnSpPr>
        <p:spPr>
          <a:xfrm>
            <a:off x="1219200" y="1068387"/>
            <a:ext cx="3543300" cy="4748212"/>
          </a:xfrm>
          <a:prstGeom prst="straightConnector1">
            <a:avLst/>
          </a:prstGeom>
          <a:noFill/>
          <a:ln cap="flat" cmpd="sng" w="25400">
            <a:solidFill>
              <a:srgbClr val="990099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05" name="Google Shape;1205;p9"/>
          <p:cNvSpPr txBox="1"/>
          <p:nvPr/>
        </p:nvSpPr>
        <p:spPr>
          <a:xfrm>
            <a:off x="5487987" y="1752600"/>
            <a:ext cx="18335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Demand B  ≤ 90</a:t>
            </a:r>
            <a:endParaRPr/>
          </a:p>
        </p:txBody>
      </p:sp>
      <p:cxnSp>
        <p:nvCxnSpPr>
          <p:cNvPr id="1206" name="Google Shape;1206;p9"/>
          <p:cNvCxnSpPr/>
          <p:nvPr/>
        </p:nvCxnSpPr>
        <p:spPr>
          <a:xfrm rot="10800000">
            <a:off x="5334000" y="1387475"/>
            <a:ext cx="0" cy="4419600"/>
          </a:xfrm>
          <a:prstGeom prst="straightConnector1">
            <a:avLst/>
          </a:prstGeom>
          <a:noFill/>
          <a:ln cap="flat" cmpd="sng" w="254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07" name="Google Shape;1207;p9"/>
          <p:cNvCxnSpPr/>
          <p:nvPr/>
        </p:nvCxnSpPr>
        <p:spPr>
          <a:xfrm>
            <a:off x="1193800" y="3505200"/>
            <a:ext cx="2808287" cy="22987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08" name="Google Shape;1208;p9"/>
          <p:cNvSpPr txBox="1"/>
          <p:nvPr/>
        </p:nvSpPr>
        <p:spPr>
          <a:xfrm rot="2400000">
            <a:off x="2133600" y="4267200"/>
            <a:ext cx="1201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$ 3,000</a:t>
            </a:r>
            <a:endParaRPr/>
          </a:p>
        </p:txBody>
      </p:sp>
      <p:sp>
        <p:nvSpPr>
          <p:cNvPr id="1209" name="Google Shape;1209;p9"/>
          <p:cNvSpPr txBox="1"/>
          <p:nvPr/>
        </p:nvSpPr>
        <p:spPr>
          <a:xfrm>
            <a:off x="1981200" y="762000"/>
            <a:ext cx="2667000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 we make $ 4,500?</a:t>
            </a:r>
            <a:endParaRPr/>
          </a:p>
        </p:txBody>
      </p:sp>
      <p:cxnSp>
        <p:nvCxnSpPr>
          <p:cNvPr id="1210" name="Google Shape;1210;p9"/>
          <p:cNvCxnSpPr/>
          <p:nvPr/>
        </p:nvCxnSpPr>
        <p:spPr>
          <a:xfrm>
            <a:off x="1193800" y="4648200"/>
            <a:ext cx="1427162" cy="1168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11" name="Google Shape;1211;p9"/>
          <p:cNvSpPr txBox="1"/>
          <p:nvPr/>
        </p:nvSpPr>
        <p:spPr>
          <a:xfrm rot="2400000">
            <a:off x="1371600" y="4800600"/>
            <a:ext cx="1201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$ 1,500</a:t>
            </a:r>
            <a:endParaRPr/>
          </a:p>
        </p:txBody>
      </p:sp>
      <p:cxnSp>
        <p:nvCxnSpPr>
          <p:cNvPr id="1212" name="Google Shape;1212;p9"/>
          <p:cNvCxnSpPr/>
          <p:nvPr/>
        </p:nvCxnSpPr>
        <p:spPr>
          <a:xfrm>
            <a:off x="1219200" y="1219200"/>
            <a:ext cx="5475287" cy="45847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13" name="Google Shape;1213;p9"/>
          <p:cNvSpPr txBox="1"/>
          <p:nvPr/>
        </p:nvSpPr>
        <p:spPr>
          <a:xfrm rot="2400000">
            <a:off x="3522662" y="3124200"/>
            <a:ext cx="1201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$ 6,000</a:t>
            </a:r>
            <a:endParaRPr/>
          </a:p>
        </p:txBody>
      </p:sp>
      <p:cxnSp>
        <p:nvCxnSpPr>
          <p:cNvPr id="1214" name="Google Shape;1214;p9"/>
          <p:cNvCxnSpPr/>
          <p:nvPr/>
        </p:nvCxnSpPr>
        <p:spPr>
          <a:xfrm>
            <a:off x="1219200" y="2357437"/>
            <a:ext cx="4116387" cy="3446462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15" name="Google Shape;1215;p9"/>
          <p:cNvSpPr txBox="1"/>
          <p:nvPr/>
        </p:nvSpPr>
        <p:spPr>
          <a:xfrm rot="2400000">
            <a:off x="3886200" y="4584700"/>
            <a:ext cx="1201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$ 4,500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0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2" name="Google Shape;1222;p10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23" name="Google Shape;1223;p10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24" name="Google Shape;1224;p10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225" name="Google Shape;1225;p10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1226" name="Google Shape;1226;p10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1227" name="Google Shape;1227;p10"/>
          <p:cNvSpPr txBox="1"/>
          <p:nvPr/>
        </p:nvSpPr>
        <p:spPr>
          <a:xfrm>
            <a:off x="5487987" y="838200"/>
            <a:ext cx="26781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66FF"/>
                </a:solidFill>
                <a:latin typeface="Arial"/>
                <a:ea typeface="Arial"/>
                <a:cs typeface="Arial"/>
                <a:sym typeface="Arial"/>
              </a:rPr>
              <a:t>Labor 30B + 60C ≤ 4200</a:t>
            </a:r>
            <a:endParaRPr/>
          </a:p>
        </p:txBody>
      </p:sp>
      <p:sp>
        <p:nvSpPr>
          <p:cNvPr id="1228" name="Google Shape;1228;p10"/>
          <p:cNvSpPr txBox="1"/>
          <p:nvPr/>
        </p:nvSpPr>
        <p:spPr>
          <a:xfrm>
            <a:off x="5487987" y="1295400"/>
            <a:ext cx="26400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Oven 60B + 45C ≤ 4650</a:t>
            </a:r>
            <a:endParaRPr/>
          </a:p>
        </p:txBody>
      </p:sp>
      <p:cxnSp>
        <p:nvCxnSpPr>
          <p:cNvPr id="1229" name="Google Shape;1229;p10"/>
          <p:cNvCxnSpPr/>
          <p:nvPr/>
        </p:nvCxnSpPr>
        <p:spPr>
          <a:xfrm rot="-1620000">
            <a:off x="1397000" y="1460500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30" name="Google Shape;1230;p10"/>
          <p:cNvSpPr txBox="1"/>
          <p:nvPr/>
        </p:nvSpPr>
        <p:spPr>
          <a:xfrm>
            <a:off x="5487987" y="2195512"/>
            <a:ext cx="18462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 C  ≤ 60</a:t>
            </a:r>
            <a:endParaRPr/>
          </a:p>
        </p:txBody>
      </p:sp>
      <p:cxnSp>
        <p:nvCxnSpPr>
          <p:cNvPr id="1231" name="Google Shape;1231;p10"/>
          <p:cNvCxnSpPr/>
          <p:nvPr/>
        </p:nvCxnSpPr>
        <p:spPr>
          <a:xfrm>
            <a:off x="1219200" y="25923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00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32" name="Google Shape;1232;p10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233" name="Google Shape;1233;p10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234" name="Google Shape;1234;p10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235" name="Google Shape;1235;p10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236" name="Google Shape;1236;p10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237" name="Google Shape;1237;p10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238" name="Google Shape;1238;p10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1239" name="Google Shape;1239;p10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240" name="Google Shape;1240;p10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241" name="Google Shape;1241;p10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42" name="Google Shape;1242;p10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43" name="Google Shape;1243;p10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44" name="Google Shape;1244;p10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45" name="Google Shape;1245;p10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46" name="Google Shape;1246;p10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47" name="Google Shape;1247;p10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48" name="Google Shape;1248;p10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49" name="Google Shape;1249;p10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50" name="Google Shape;1250;p10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51" name="Google Shape;1251;p10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52" name="Google Shape;1252;p10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53" name="Google Shape;1253;p10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54" name="Google Shape;1254;p10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55" name="Google Shape;1255;p10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56" name="Google Shape;1256;p10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257" name="Google Shape;1257;p10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258" name="Google Shape;1258;p10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259" name="Google Shape;1259;p10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260" name="Google Shape;1260;p10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261" name="Google Shape;1261;p10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262" name="Google Shape;1262;p10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1263" name="Google Shape;1263;p10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1264" name="Google Shape;1264;p10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65" name="Google Shape;1265;p10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66" name="Google Shape;1266;p10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67" name="Google Shape;1267;p10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68" name="Google Shape;1268;p10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69" name="Google Shape;1269;p10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0" name="Google Shape;1270;p10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1" name="Google Shape;1271;p10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2" name="Google Shape;1272;p10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3" name="Google Shape;1273;p10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4" name="Google Shape;1274;p10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5" name="Google Shape;1275;p10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6" name="Google Shape;1276;p10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7" name="Google Shape;1277;p10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8" name="Google Shape;1278;p10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9" name="Google Shape;1279;p10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80" name="Google Shape;1280;p10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81" name="Google Shape;1281;p10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82" name="Google Shape;1282;p10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83" name="Google Shape;1283;p10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84" name="Google Shape;1284;p10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85" name="Google Shape;1285;p10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86" name="Google Shape;1286;p10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87" name="Google Shape;1287;p10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88" name="Google Shape;1288;p10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89" name="Google Shape;1289;p10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0" name="Google Shape;1290;p10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1" name="Google Shape;1291;p10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2" name="Google Shape;1292;p10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3" name="Google Shape;1293;p10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4" name="Google Shape;1294;p10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5" name="Google Shape;1295;p10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6" name="Google Shape;1296;p10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7" name="Google Shape;1297;p10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8" name="Google Shape;1298;p10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9" name="Google Shape;1299;p10"/>
          <p:cNvCxnSpPr/>
          <p:nvPr/>
        </p:nvCxnSpPr>
        <p:spPr>
          <a:xfrm>
            <a:off x="1219200" y="1068387"/>
            <a:ext cx="3543300" cy="4748212"/>
          </a:xfrm>
          <a:prstGeom prst="straightConnector1">
            <a:avLst/>
          </a:prstGeom>
          <a:noFill/>
          <a:ln cap="flat" cmpd="sng" w="25400">
            <a:solidFill>
              <a:srgbClr val="990099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00" name="Google Shape;1300;p10"/>
          <p:cNvSpPr txBox="1"/>
          <p:nvPr/>
        </p:nvSpPr>
        <p:spPr>
          <a:xfrm>
            <a:off x="5487987" y="1752600"/>
            <a:ext cx="18335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Demand B  ≤ 90</a:t>
            </a:r>
            <a:endParaRPr/>
          </a:p>
        </p:txBody>
      </p:sp>
      <p:cxnSp>
        <p:nvCxnSpPr>
          <p:cNvPr id="1301" name="Google Shape;1301;p10"/>
          <p:cNvCxnSpPr/>
          <p:nvPr/>
        </p:nvCxnSpPr>
        <p:spPr>
          <a:xfrm rot="10800000">
            <a:off x="5334000" y="1387475"/>
            <a:ext cx="0" cy="4419600"/>
          </a:xfrm>
          <a:prstGeom prst="straightConnector1">
            <a:avLst/>
          </a:prstGeom>
          <a:noFill/>
          <a:ln cap="flat" cmpd="sng" w="254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02" name="Google Shape;1302;p10"/>
          <p:cNvCxnSpPr/>
          <p:nvPr/>
        </p:nvCxnSpPr>
        <p:spPr>
          <a:xfrm>
            <a:off x="1193800" y="3505200"/>
            <a:ext cx="2808287" cy="22987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03" name="Google Shape;1303;p10"/>
          <p:cNvSpPr txBox="1"/>
          <p:nvPr/>
        </p:nvSpPr>
        <p:spPr>
          <a:xfrm rot="2400000">
            <a:off x="2133600" y="4267200"/>
            <a:ext cx="1201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$ 3,000</a:t>
            </a:r>
            <a:endParaRPr/>
          </a:p>
        </p:txBody>
      </p:sp>
      <p:sp>
        <p:nvSpPr>
          <p:cNvPr id="1304" name="Google Shape;1304;p10"/>
          <p:cNvSpPr txBox="1"/>
          <p:nvPr/>
        </p:nvSpPr>
        <p:spPr>
          <a:xfrm>
            <a:off x="1981200" y="762000"/>
            <a:ext cx="2667000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How much can we make?</a:t>
            </a:r>
            <a:endParaRPr/>
          </a:p>
        </p:txBody>
      </p:sp>
      <p:cxnSp>
        <p:nvCxnSpPr>
          <p:cNvPr id="1305" name="Google Shape;1305;p10"/>
          <p:cNvCxnSpPr/>
          <p:nvPr/>
        </p:nvCxnSpPr>
        <p:spPr>
          <a:xfrm>
            <a:off x="1193800" y="4648200"/>
            <a:ext cx="1427162" cy="1168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06" name="Google Shape;1306;p10"/>
          <p:cNvSpPr txBox="1"/>
          <p:nvPr/>
        </p:nvSpPr>
        <p:spPr>
          <a:xfrm rot="2400000">
            <a:off x="1371600" y="4800600"/>
            <a:ext cx="1201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$ 1,500</a:t>
            </a:r>
            <a:endParaRPr/>
          </a:p>
        </p:txBody>
      </p:sp>
      <p:cxnSp>
        <p:nvCxnSpPr>
          <p:cNvPr id="1307" name="Google Shape;1307;p10"/>
          <p:cNvCxnSpPr/>
          <p:nvPr/>
        </p:nvCxnSpPr>
        <p:spPr>
          <a:xfrm>
            <a:off x="1219200" y="1219200"/>
            <a:ext cx="5475287" cy="45847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08" name="Google Shape;1308;p10"/>
          <p:cNvSpPr txBox="1"/>
          <p:nvPr/>
        </p:nvSpPr>
        <p:spPr>
          <a:xfrm rot="2400000">
            <a:off x="3522662" y="3124200"/>
            <a:ext cx="1201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$ 6,000</a:t>
            </a:r>
            <a:endParaRPr/>
          </a:p>
        </p:txBody>
      </p:sp>
      <p:cxnSp>
        <p:nvCxnSpPr>
          <p:cNvPr id="1309" name="Google Shape;1309;p10"/>
          <p:cNvCxnSpPr/>
          <p:nvPr/>
        </p:nvCxnSpPr>
        <p:spPr>
          <a:xfrm>
            <a:off x="1219200" y="2357437"/>
            <a:ext cx="4116387" cy="3446462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10" name="Google Shape;1310;p10"/>
          <p:cNvSpPr txBox="1"/>
          <p:nvPr/>
        </p:nvSpPr>
        <p:spPr>
          <a:xfrm rot="2400000">
            <a:off x="4114800" y="4953000"/>
            <a:ext cx="1201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$ 4,500</a:t>
            </a:r>
            <a:endParaRPr/>
          </a:p>
        </p:txBody>
      </p:sp>
      <p:cxnSp>
        <p:nvCxnSpPr>
          <p:cNvPr id="1311" name="Google Shape;1311;p10"/>
          <p:cNvCxnSpPr/>
          <p:nvPr/>
        </p:nvCxnSpPr>
        <p:spPr>
          <a:xfrm>
            <a:off x="1192212" y="1963737"/>
            <a:ext cx="4624387" cy="3852862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1312" name="Google Shape;1312;p10"/>
          <p:cNvGrpSpPr/>
          <p:nvPr/>
        </p:nvGrpSpPr>
        <p:grpSpPr>
          <a:xfrm>
            <a:off x="533400" y="3276600"/>
            <a:ext cx="2882900" cy="3111500"/>
            <a:chOff x="336" y="2064"/>
            <a:chExt cx="1816" cy="1960"/>
          </a:xfrm>
        </p:grpSpPr>
        <p:grpSp>
          <p:nvGrpSpPr>
            <p:cNvPr id="1313" name="Google Shape;1313;p10"/>
            <p:cNvGrpSpPr/>
            <p:nvPr/>
          </p:nvGrpSpPr>
          <p:grpSpPr>
            <a:xfrm>
              <a:off x="648" y="2200"/>
              <a:ext cx="1272" cy="1600"/>
              <a:chOff x="648" y="2200"/>
              <a:chExt cx="1272" cy="1600"/>
            </a:xfrm>
          </p:grpSpPr>
          <p:cxnSp>
            <p:nvCxnSpPr>
              <p:cNvPr id="1314" name="Google Shape;1314;p10"/>
              <p:cNvCxnSpPr/>
              <p:nvPr/>
            </p:nvCxnSpPr>
            <p:spPr>
              <a:xfrm>
                <a:off x="648" y="2208"/>
                <a:ext cx="1224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15" name="Google Shape;1315;p10"/>
              <p:cNvCxnSpPr/>
              <p:nvPr/>
            </p:nvCxnSpPr>
            <p:spPr>
              <a:xfrm>
                <a:off x="1888" y="2200"/>
                <a:ext cx="32" cy="160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1316" name="Google Shape;1316;p10"/>
            <p:cNvSpPr/>
            <p:nvPr/>
          </p:nvSpPr>
          <p:spPr>
            <a:xfrm>
              <a:off x="1680" y="3704"/>
              <a:ext cx="472" cy="320"/>
            </a:xfrm>
            <a:custGeom>
              <a:rect b="b" l="l" r="r" t="t"/>
              <a:pathLst>
                <a:path extrusionOk="0" h="320" w="472">
                  <a:moveTo>
                    <a:pt x="96" y="280"/>
                  </a:moveTo>
                  <a:cubicBezTo>
                    <a:pt x="168" y="296"/>
                    <a:pt x="392" y="320"/>
                    <a:pt x="432" y="280"/>
                  </a:cubicBezTo>
                  <a:cubicBezTo>
                    <a:pt x="472" y="240"/>
                    <a:pt x="392" y="80"/>
                    <a:pt x="336" y="40"/>
                  </a:cubicBezTo>
                  <a:cubicBezTo>
                    <a:pt x="280" y="0"/>
                    <a:pt x="152" y="16"/>
                    <a:pt x="96" y="40"/>
                  </a:cubicBezTo>
                  <a:cubicBezTo>
                    <a:pt x="40" y="64"/>
                    <a:pt x="0" y="144"/>
                    <a:pt x="0" y="184"/>
                  </a:cubicBezTo>
                  <a:cubicBezTo>
                    <a:pt x="0" y="224"/>
                    <a:pt x="24" y="264"/>
                    <a:pt x="96" y="280"/>
                  </a:cubicBez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0"/>
            <p:cNvSpPr/>
            <p:nvPr/>
          </p:nvSpPr>
          <p:spPr>
            <a:xfrm>
              <a:off x="336" y="2064"/>
              <a:ext cx="472" cy="320"/>
            </a:xfrm>
            <a:custGeom>
              <a:rect b="b" l="l" r="r" t="t"/>
              <a:pathLst>
                <a:path extrusionOk="0" h="320" w="472">
                  <a:moveTo>
                    <a:pt x="96" y="280"/>
                  </a:moveTo>
                  <a:cubicBezTo>
                    <a:pt x="168" y="296"/>
                    <a:pt x="392" y="320"/>
                    <a:pt x="432" y="280"/>
                  </a:cubicBezTo>
                  <a:cubicBezTo>
                    <a:pt x="472" y="240"/>
                    <a:pt x="392" y="80"/>
                    <a:pt x="336" y="40"/>
                  </a:cubicBezTo>
                  <a:cubicBezTo>
                    <a:pt x="280" y="0"/>
                    <a:pt x="152" y="16"/>
                    <a:pt x="96" y="40"/>
                  </a:cubicBezTo>
                  <a:cubicBezTo>
                    <a:pt x="40" y="64"/>
                    <a:pt x="0" y="144"/>
                    <a:pt x="0" y="184"/>
                  </a:cubicBezTo>
                  <a:cubicBezTo>
                    <a:pt x="0" y="224"/>
                    <a:pt x="24" y="264"/>
                    <a:pt x="96" y="280"/>
                  </a:cubicBez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8" name="Google Shape;1318;p10"/>
          <p:cNvSpPr txBox="1"/>
          <p:nvPr/>
        </p:nvSpPr>
        <p:spPr>
          <a:xfrm>
            <a:off x="3505200" y="1752600"/>
            <a:ext cx="139700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50C * $60 +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40B * $50 =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$ 5,000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1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5" name="Google Shape;1325;p11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26" name="Google Shape;1326;p11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27" name="Google Shape;1327;p11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328" name="Google Shape;1328;p11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1329" name="Google Shape;1329;p11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1330" name="Google Shape;1330;p11"/>
          <p:cNvSpPr txBox="1"/>
          <p:nvPr/>
        </p:nvSpPr>
        <p:spPr>
          <a:xfrm>
            <a:off x="5487987" y="838200"/>
            <a:ext cx="26781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66FF"/>
                </a:solidFill>
                <a:latin typeface="Arial"/>
                <a:ea typeface="Arial"/>
                <a:cs typeface="Arial"/>
                <a:sym typeface="Arial"/>
              </a:rPr>
              <a:t>Labor 30B + 60C ≤ 4200</a:t>
            </a:r>
            <a:endParaRPr/>
          </a:p>
        </p:txBody>
      </p:sp>
      <p:sp>
        <p:nvSpPr>
          <p:cNvPr id="1331" name="Google Shape;1331;p11"/>
          <p:cNvSpPr txBox="1"/>
          <p:nvPr/>
        </p:nvSpPr>
        <p:spPr>
          <a:xfrm>
            <a:off x="5487987" y="1295400"/>
            <a:ext cx="26400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Oven 60B + 45C ≤ 4650</a:t>
            </a:r>
            <a:endParaRPr/>
          </a:p>
        </p:txBody>
      </p:sp>
      <p:cxnSp>
        <p:nvCxnSpPr>
          <p:cNvPr id="1332" name="Google Shape;1332;p11"/>
          <p:cNvCxnSpPr/>
          <p:nvPr/>
        </p:nvCxnSpPr>
        <p:spPr>
          <a:xfrm rot="-1620000">
            <a:off x="1397000" y="1460500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33" name="Google Shape;1333;p11"/>
          <p:cNvSpPr txBox="1"/>
          <p:nvPr/>
        </p:nvSpPr>
        <p:spPr>
          <a:xfrm>
            <a:off x="5487987" y="2195512"/>
            <a:ext cx="18462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 C  ≤ 60</a:t>
            </a:r>
            <a:endParaRPr/>
          </a:p>
        </p:txBody>
      </p:sp>
      <p:cxnSp>
        <p:nvCxnSpPr>
          <p:cNvPr id="1334" name="Google Shape;1334;p11"/>
          <p:cNvCxnSpPr/>
          <p:nvPr/>
        </p:nvCxnSpPr>
        <p:spPr>
          <a:xfrm>
            <a:off x="1219200" y="25923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00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35" name="Google Shape;1335;p11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336" name="Google Shape;1336;p11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337" name="Google Shape;1337;p11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338" name="Google Shape;1338;p11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339" name="Google Shape;1339;p11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340" name="Google Shape;1340;p11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341" name="Google Shape;1341;p11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1342" name="Google Shape;1342;p11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343" name="Google Shape;1343;p11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344" name="Google Shape;1344;p11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45" name="Google Shape;1345;p11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46" name="Google Shape;1346;p11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47" name="Google Shape;1347;p11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48" name="Google Shape;1348;p11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49" name="Google Shape;1349;p11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50" name="Google Shape;1350;p11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51" name="Google Shape;1351;p11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52" name="Google Shape;1352;p11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53" name="Google Shape;1353;p11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54" name="Google Shape;1354;p11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55" name="Google Shape;1355;p11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56" name="Google Shape;1356;p11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57" name="Google Shape;1357;p11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58" name="Google Shape;1358;p11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59" name="Google Shape;1359;p11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360" name="Google Shape;1360;p11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361" name="Google Shape;1361;p11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362" name="Google Shape;1362;p11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363" name="Google Shape;1363;p11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364" name="Google Shape;1364;p11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365" name="Google Shape;1365;p11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1366" name="Google Shape;1366;p11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1367" name="Google Shape;1367;p11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68" name="Google Shape;1368;p11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69" name="Google Shape;1369;p11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70" name="Google Shape;1370;p11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71" name="Google Shape;1371;p11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72" name="Google Shape;1372;p11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73" name="Google Shape;1373;p11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74" name="Google Shape;1374;p11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75" name="Google Shape;1375;p11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76" name="Google Shape;1376;p11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77" name="Google Shape;1377;p11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78" name="Google Shape;1378;p11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79" name="Google Shape;1379;p11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0" name="Google Shape;1380;p11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1" name="Google Shape;1381;p11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2" name="Google Shape;1382;p11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3" name="Google Shape;1383;p11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4" name="Google Shape;1384;p11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5" name="Google Shape;1385;p11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6" name="Google Shape;1386;p11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7" name="Google Shape;1387;p11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8" name="Google Shape;1388;p11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9" name="Google Shape;1389;p11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0" name="Google Shape;1390;p11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1" name="Google Shape;1391;p11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2" name="Google Shape;1392;p11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3" name="Google Shape;1393;p11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4" name="Google Shape;1394;p11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5" name="Google Shape;1395;p11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6" name="Google Shape;1396;p11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7" name="Google Shape;1397;p11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8" name="Google Shape;1398;p11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9" name="Google Shape;1399;p11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00" name="Google Shape;1400;p11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01" name="Google Shape;1401;p11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02" name="Google Shape;1402;p11"/>
          <p:cNvCxnSpPr/>
          <p:nvPr/>
        </p:nvCxnSpPr>
        <p:spPr>
          <a:xfrm>
            <a:off x="1244600" y="26050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66FF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03" name="Google Shape;1403;p11"/>
          <p:cNvCxnSpPr/>
          <p:nvPr/>
        </p:nvCxnSpPr>
        <p:spPr>
          <a:xfrm>
            <a:off x="1219200" y="1068387"/>
            <a:ext cx="3543300" cy="4748212"/>
          </a:xfrm>
          <a:prstGeom prst="straightConnector1">
            <a:avLst/>
          </a:prstGeom>
          <a:noFill/>
          <a:ln cap="flat" cmpd="sng" w="25400">
            <a:solidFill>
              <a:srgbClr val="990099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04" name="Google Shape;1404;p11"/>
          <p:cNvSpPr txBox="1"/>
          <p:nvPr/>
        </p:nvSpPr>
        <p:spPr>
          <a:xfrm>
            <a:off x="5487987" y="1752600"/>
            <a:ext cx="18335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Demand B  ≤ 90</a:t>
            </a:r>
            <a:endParaRPr/>
          </a:p>
        </p:txBody>
      </p:sp>
      <p:cxnSp>
        <p:nvCxnSpPr>
          <p:cNvPr id="1405" name="Google Shape;1405;p11"/>
          <p:cNvCxnSpPr/>
          <p:nvPr/>
        </p:nvCxnSpPr>
        <p:spPr>
          <a:xfrm rot="10800000">
            <a:off x="5334000" y="1387475"/>
            <a:ext cx="0" cy="4419600"/>
          </a:xfrm>
          <a:prstGeom prst="straightConnector1">
            <a:avLst/>
          </a:prstGeom>
          <a:noFill/>
          <a:ln cap="flat" cmpd="sng" w="254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06" name="Google Shape;1406;p11"/>
          <p:cNvSpPr txBox="1"/>
          <p:nvPr/>
        </p:nvSpPr>
        <p:spPr>
          <a:xfrm>
            <a:off x="1981200" y="762000"/>
            <a:ext cx="2667000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How much can we make?</a:t>
            </a:r>
            <a:endParaRPr/>
          </a:p>
        </p:txBody>
      </p:sp>
      <p:cxnSp>
        <p:nvCxnSpPr>
          <p:cNvPr id="1407" name="Google Shape;1407;p11"/>
          <p:cNvCxnSpPr/>
          <p:nvPr/>
        </p:nvCxnSpPr>
        <p:spPr>
          <a:xfrm>
            <a:off x="2667000" y="533400"/>
            <a:ext cx="4624387" cy="3852862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1408" name="Google Shape;1408;p11"/>
          <p:cNvGrpSpPr/>
          <p:nvPr/>
        </p:nvGrpSpPr>
        <p:grpSpPr>
          <a:xfrm>
            <a:off x="533400" y="3276600"/>
            <a:ext cx="2882900" cy="3111500"/>
            <a:chOff x="336" y="2064"/>
            <a:chExt cx="1816" cy="1960"/>
          </a:xfrm>
        </p:grpSpPr>
        <p:grpSp>
          <p:nvGrpSpPr>
            <p:cNvPr id="1409" name="Google Shape;1409;p11"/>
            <p:cNvGrpSpPr/>
            <p:nvPr/>
          </p:nvGrpSpPr>
          <p:grpSpPr>
            <a:xfrm>
              <a:off x="648" y="2200"/>
              <a:ext cx="1272" cy="1600"/>
              <a:chOff x="648" y="2200"/>
              <a:chExt cx="1272" cy="1600"/>
            </a:xfrm>
          </p:grpSpPr>
          <p:cxnSp>
            <p:nvCxnSpPr>
              <p:cNvPr id="1410" name="Google Shape;1410;p11"/>
              <p:cNvCxnSpPr/>
              <p:nvPr/>
            </p:nvCxnSpPr>
            <p:spPr>
              <a:xfrm>
                <a:off x="648" y="2208"/>
                <a:ext cx="1224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411" name="Google Shape;1411;p11"/>
              <p:cNvCxnSpPr/>
              <p:nvPr/>
            </p:nvCxnSpPr>
            <p:spPr>
              <a:xfrm>
                <a:off x="1888" y="2200"/>
                <a:ext cx="32" cy="160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1412" name="Google Shape;1412;p11"/>
            <p:cNvSpPr/>
            <p:nvPr/>
          </p:nvSpPr>
          <p:spPr>
            <a:xfrm>
              <a:off x="1680" y="3704"/>
              <a:ext cx="472" cy="320"/>
            </a:xfrm>
            <a:custGeom>
              <a:rect b="b" l="l" r="r" t="t"/>
              <a:pathLst>
                <a:path extrusionOk="0" h="320" w="472">
                  <a:moveTo>
                    <a:pt x="96" y="280"/>
                  </a:moveTo>
                  <a:cubicBezTo>
                    <a:pt x="168" y="296"/>
                    <a:pt x="392" y="320"/>
                    <a:pt x="432" y="280"/>
                  </a:cubicBezTo>
                  <a:cubicBezTo>
                    <a:pt x="472" y="240"/>
                    <a:pt x="392" y="80"/>
                    <a:pt x="336" y="40"/>
                  </a:cubicBezTo>
                  <a:cubicBezTo>
                    <a:pt x="280" y="0"/>
                    <a:pt x="152" y="16"/>
                    <a:pt x="96" y="40"/>
                  </a:cubicBezTo>
                  <a:cubicBezTo>
                    <a:pt x="40" y="64"/>
                    <a:pt x="0" y="144"/>
                    <a:pt x="0" y="184"/>
                  </a:cubicBezTo>
                  <a:cubicBezTo>
                    <a:pt x="0" y="224"/>
                    <a:pt x="24" y="264"/>
                    <a:pt x="96" y="280"/>
                  </a:cubicBez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1"/>
            <p:cNvSpPr/>
            <p:nvPr/>
          </p:nvSpPr>
          <p:spPr>
            <a:xfrm>
              <a:off x="336" y="2064"/>
              <a:ext cx="472" cy="320"/>
            </a:xfrm>
            <a:custGeom>
              <a:rect b="b" l="l" r="r" t="t"/>
              <a:pathLst>
                <a:path extrusionOk="0" h="320" w="472">
                  <a:moveTo>
                    <a:pt x="96" y="280"/>
                  </a:moveTo>
                  <a:cubicBezTo>
                    <a:pt x="168" y="296"/>
                    <a:pt x="392" y="320"/>
                    <a:pt x="432" y="280"/>
                  </a:cubicBezTo>
                  <a:cubicBezTo>
                    <a:pt x="472" y="240"/>
                    <a:pt x="392" y="80"/>
                    <a:pt x="336" y="40"/>
                  </a:cubicBezTo>
                  <a:cubicBezTo>
                    <a:pt x="280" y="0"/>
                    <a:pt x="152" y="16"/>
                    <a:pt x="96" y="40"/>
                  </a:cubicBezTo>
                  <a:cubicBezTo>
                    <a:pt x="40" y="64"/>
                    <a:pt x="0" y="144"/>
                    <a:pt x="0" y="184"/>
                  </a:cubicBezTo>
                  <a:cubicBezTo>
                    <a:pt x="0" y="224"/>
                    <a:pt x="24" y="264"/>
                    <a:pt x="96" y="280"/>
                  </a:cubicBez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12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0" name="Google Shape;1420;p12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21" name="Google Shape;1421;p12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22" name="Google Shape;1422;p12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423" name="Google Shape;1423;p12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1424" name="Google Shape;1424;p12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1425" name="Google Shape;1425;p12"/>
          <p:cNvSpPr txBox="1"/>
          <p:nvPr/>
        </p:nvSpPr>
        <p:spPr>
          <a:xfrm>
            <a:off x="5487987" y="838200"/>
            <a:ext cx="26781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66FF"/>
                </a:solidFill>
                <a:latin typeface="Arial"/>
                <a:ea typeface="Arial"/>
                <a:cs typeface="Arial"/>
                <a:sym typeface="Arial"/>
              </a:rPr>
              <a:t>Labor 30B + 60C ≤ 4200</a:t>
            </a:r>
            <a:endParaRPr/>
          </a:p>
        </p:txBody>
      </p:sp>
      <p:sp>
        <p:nvSpPr>
          <p:cNvPr id="1426" name="Google Shape;1426;p12"/>
          <p:cNvSpPr txBox="1"/>
          <p:nvPr/>
        </p:nvSpPr>
        <p:spPr>
          <a:xfrm>
            <a:off x="5487987" y="1295400"/>
            <a:ext cx="26400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Oven 60B + 45C ≤ 4650</a:t>
            </a:r>
            <a:endParaRPr/>
          </a:p>
        </p:txBody>
      </p:sp>
      <p:cxnSp>
        <p:nvCxnSpPr>
          <p:cNvPr id="1427" name="Google Shape;1427;p12"/>
          <p:cNvCxnSpPr/>
          <p:nvPr/>
        </p:nvCxnSpPr>
        <p:spPr>
          <a:xfrm rot="-1620000">
            <a:off x="1397000" y="1460500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28" name="Google Shape;1428;p12"/>
          <p:cNvSpPr txBox="1"/>
          <p:nvPr/>
        </p:nvSpPr>
        <p:spPr>
          <a:xfrm>
            <a:off x="5487987" y="2195512"/>
            <a:ext cx="18462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 C  ≤ 60</a:t>
            </a:r>
            <a:endParaRPr/>
          </a:p>
        </p:txBody>
      </p:sp>
      <p:cxnSp>
        <p:nvCxnSpPr>
          <p:cNvPr id="1429" name="Google Shape;1429;p12"/>
          <p:cNvCxnSpPr/>
          <p:nvPr/>
        </p:nvCxnSpPr>
        <p:spPr>
          <a:xfrm>
            <a:off x="1219200" y="25923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00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30" name="Google Shape;1430;p12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431" name="Google Shape;1431;p12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432" name="Google Shape;1432;p12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433" name="Google Shape;1433;p12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434" name="Google Shape;1434;p12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435" name="Google Shape;1435;p12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436" name="Google Shape;1436;p12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1437" name="Google Shape;1437;p12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438" name="Google Shape;1438;p12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439" name="Google Shape;1439;p12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40" name="Google Shape;1440;p12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41" name="Google Shape;1441;p12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42" name="Google Shape;1442;p12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43" name="Google Shape;1443;p12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44" name="Google Shape;1444;p12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45" name="Google Shape;1445;p12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46" name="Google Shape;1446;p12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47" name="Google Shape;1447;p12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48" name="Google Shape;1448;p12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49" name="Google Shape;1449;p12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50" name="Google Shape;1450;p12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51" name="Google Shape;1451;p12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52" name="Google Shape;1452;p12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53" name="Google Shape;1453;p12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54" name="Google Shape;1454;p12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455" name="Google Shape;1455;p12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456" name="Google Shape;1456;p12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457" name="Google Shape;1457;p12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458" name="Google Shape;1458;p12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459" name="Google Shape;1459;p12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460" name="Google Shape;1460;p12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1461" name="Google Shape;1461;p12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1462" name="Google Shape;1462;p12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63" name="Google Shape;1463;p12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64" name="Google Shape;1464;p12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65" name="Google Shape;1465;p12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66" name="Google Shape;1466;p12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67" name="Google Shape;1467;p12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68" name="Google Shape;1468;p12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69" name="Google Shape;1469;p12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70" name="Google Shape;1470;p12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71" name="Google Shape;1471;p12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72" name="Google Shape;1472;p12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73" name="Google Shape;1473;p12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74" name="Google Shape;1474;p12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75" name="Google Shape;1475;p12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76" name="Google Shape;1476;p12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77" name="Google Shape;1477;p12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78" name="Google Shape;1478;p12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79" name="Google Shape;1479;p12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80" name="Google Shape;1480;p12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81" name="Google Shape;1481;p12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82" name="Google Shape;1482;p12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83" name="Google Shape;1483;p12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84" name="Google Shape;1484;p12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85" name="Google Shape;1485;p12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86" name="Google Shape;1486;p12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87" name="Google Shape;1487;p12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88" name="Google Shape;1488;p12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89" name="Google Shape;1489;p12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90" name="Google Shape;1490;p12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91" name="Google Shape;1491;p12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92" name="Google Shape;1492;p12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93" name="Google Shape;1493;p12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94" name="Google Shape;1494;p12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95" name="Google Shape;1495;p12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96" name="Google Shape;1496;p12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97" name="Google Shape;1497;p12"/>
          <p:cNvCxnSpPr/>
          <p:nvPr/>
        </p:nvCxnSpPr>
        <p:spPr>
          <a:xfrm>
            <a:off x="1244600" y="26050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66FF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98" name="Google Shape;1498;p12"/>
          <p:cNvCxnSpPr/>
          <p:nvPr/>
        </p:nvCxnSpPr>
        <p:spPr>
          <a:xfrm>
            <a:off x="1219200" y="1068387"/>
            <a:ext cx="3543300" cy="4748212"/>
          </a:xfrm>
          <a:prstGeom prst="straightConnector1">
            <a:avLst/>
          </a:prstGeom>
          <a:noFill/>
          <a:ln cap="flat" cmpd="sng" w="25400">
            <a:solidFill>
              <a:srgbClr val="990099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99" name="Google Shape;1499;p12"/>
          <p:cNvSpPr txBox="1"/>
          <p:nvPr/>
        </p:nvSpPr>
        <p:spPr>
          <a:xfrm>
            <a:off x="5487987" y="1752600"/>
            <a:ext cx="18335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Demand B  ≤ 90</a:t>
            </a:r>
            <a:endParaRPr/>
          </a:p>
        </p:txBody>
      </p:sp>
      <p:cxnSp>
        <p:nvCxnSpPr>
          <p:cNvPr id="1500" name="Google Shape;1500;p12"/>
          <p:cNvCxnSpPr/>
          <p:nvPr/>
        </p:nvCxnSpPr>
        <p:spPr>
          <a:xfrm rot="10800000">
            <a:off x="5334000" y="1387475"/>
            <a:ext cx="0" cy="4419600"/>
          </a:xfrm>
          <a:prstGeom prst="straightConnector1">
            <a:avLst/>
          </a:prstGeom>
          <a:noFill/>
          <a:ln cap="flat" cmpd="sng" w="254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01" name="Google Shape;1501;p12"/>
          <p:cNvSpPr txBox="1"/>
          <p:nvPr/>
        </p:nvSpPr>
        <p:spPr>
          <a:xfrm>
            <a:off x="1981200" y="762000"/>
            <a:ext cx="2667000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How much can we make?</a:t>
            </a:r>
            <a:endParaRPr/>
          </a:p>
        </p:txBody>
      </p:sp>
      <p:cxnSp>
        <p:nvCxnSpPr>
          <p:cNvPr id="1502" name="Google Shape;1502;p12"/>
          <p:cNvCxnSpPr/>
          <p:nvPr/>
        </p:nvCxnSpPr>
        <p:spPr>
          <a:xfrm>
            <a:off x="-890587" y="4071937"/>
            <a:ext cx="4624387" cy="3852862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1503" name="Google Shape;1503;p12"/>
          <p:cNvGrpSpPr/>
          <p:nvPr/>
        </p:nvGrpSpPr>
        <p:grpSpPr>
          <a:xfrm>
            <a:off x="533400" y="3276600"/>
            <a:ext cx="2882900" cy="3111500"/>
            <a:chOff x="336" y="2064"/>
            <a:chExt cx="1816" cy="1960"/>
          </a:xfrm>
        </p:grpSpPr>
        <p:grpSp>
          <p:nvGrpSpPr>
            <p:cNvPr id="1504" name="Google Shape;1504;p12"/>
            <p:cNvGrpSpPr/>
            <p:nvPr/>
          </p:nvGrpSpPr>
          <p:grpSpPr>
            <a:xfrm>
              <a:off x="648" y="2200"/>
              <a:ext cx="1272" cy="1600"/>
              <a:chOff x="648" y="2200"/>
              <a:chExt cx="1272" cy="1600"/>
            </a:xfrm>
          </p:grpSpPr>
          <p:cxnSp>
            <p:nvCxnSpPr>
              <p:cNvPr id="1505" name="Google Shape;1505;p12"/>
              <p:cNvCxnSpPr/>
              <p:nvPr/>
            </p:nvCxnSpPr>
            <p:spPr>
              <a:xfrm>
                <a:off x="648" y="2208"/>
                <a:ext cx="1224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06" name="Google Shape;1506;p12"/>
              <p:cNvCxnSpPr/>
              <p:nvPr/>
            </p:nvCxnSpPr>
            <p:spPr>
              <a:xfrm>
                <a:off x="1888" y="2200"/>
                <a:ext cx="32" cy="160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1507" name="Google Shape;1507;p12"/>
            <p:cNvSpPr/>
            <p:nvPr/>
          </p:nvSpPr>
          <p:spPr>
            <a:xfrm>
              <a:off x="1680" y="3704"/>
              <a:ext cx="472" cy="320"/>
            </a:xfrm>
            <a:custGeom>
              <a:rect b="b" l="l" r="r" t="t"/>
              <a:pathLst>
                <a:path extrusionOk="0" h="320" w="472">
                  <a:moveTo>
                    <a:pt x="96" y="280"/>
                  </a:moveTo>
                  <a:cubicBezTo>
                    <a:pt x="168" y="296"/>
                    <a:pt x="392" y="320"/>
                    <a:pt x="432" y="280"/>
                  </a:cubicBezTo>
                  <a:cubicBezTo>
                    <a:pt x="472" y="240"/>
                    <a:pt x="392" y="80"/>
                    <a:pt x="336" y="40"/>
                  </a:cubicBezTo>
                  <a:cubicBezTo>
                    <a:pt x="280" y="0"/>
                    <a:pt x="152" y="16"/>
                    <a:pt x="96" y="40"/>
                  </a:cubicBezTo>
                  <a:cubicBezTo>
                    <a:pt x="40" y="64"/>
                    <a:pt x="0" y="144"/>
                    <a:pt x="0" y="184"/>
                  </a:cubicBezTo>
                  <a:cubicBezTo>
                    <a:pt x="0" y="224"/>
                    <a:pt x="24" y="264"/>
                    <a:pt x="96" y="280"/>
                  </a:cubicBez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2"/>
            <p:cNvSpPr/>
            <p:nvPr/>
          </p:nvSpPr>
          <p:spPr>
            <a:xfrm>
              <a:off x="336" y="2064"/>
              <a:ext cx="472" cy="320"/>
            </a:xfrm>
            <a:custGeom>
              <a:rect b="b" l="l" r="r" t="t"/>
              <a:pathLst>
                <a:path extrusionOk="0" h="320" w="472">
                  <a:moveTo>
                    <a:pt x="96" y="280"/>
                  </a:moveTo>
                  <a:cubicBezTo>
                    <a:pt x="168" y="296"/>
                    <a:pt x="392" y="320"/>
                    <a:pt x="432" y="280"/>
                  </a:cubicBezTo>
                  <a:cubicBezTo>
                    <a:pt x="472" y="240"/>
                    <a:pt x="392" y="80"/>
                    <a:pt x="336" y="40"/>
                  </a:cubicBezTo>
                  <a:cubicBezTo>
                    <a:pt x="280" y="0"/>
                    <a:pt x="152" y="16"/>
                    <a:pt x="96" y="40"/>
                  </a:cubicBezTo>
                  <a:cubicBezTo>
                    <a:pt x="40" y="64"/>
                    <a:pt x="0" y="144"/>
                    <a:pt x="0" y="184"/>
                  </a:cubicBezTo>
                  <a:cubicBezTo>
                    <a:pt x="0" y="224"/>
                    <a:pt x="24" y="264"/>
                    <a:pt x="96" y="280"/>
                  </a:cubicBez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13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5" name="Google Shape;1515;p13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16" name="Google Shape;1516;p13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17" name="Google Shape;1517;p13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518" name="Google Shape;1518;p13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1519" name="Google Shape;1519;p13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1520" name="Google Shape;1520;p13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521" name="Google Shape;1521;p13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522" name="Google Shape;1522;p13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523" name="Google Shape;1523;p13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524" name="Google Shape;1524;p13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525" name="Google Shape;1525;p13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526" name="Google Shape;1526;p13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1527" name="Google Shape;1527;p13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528" name="Google Shape;1528;p13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529" name="Google Shape;1529;p13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30" name="Google Shape;1530;p13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31" name="Google Shape;1531;p13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32" name="Google Shape;1532;p13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33" name="Google Shape;1533;p13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34" name="Google Shape;1534;p13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35" name="Google Shape;1535;p13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36" name="Google Shape;1536;p13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37" name="Google Shape;1537;p13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38" name="Google Shape;1538;p13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39" name="Google Shape;1539;p13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40" name="Google Shape;1540;p13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41" name="Google Shape;1541;p13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42" name="Google Shape;1542;p13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43" name="Google Shape;1543;p13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44" name="Google Shape;1544;p13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545" name="Google Shape;1545;p13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546" name="Google Shape;1546;p13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547" name="Google Shape;1547;p13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548" name="Google Shape;1548;p13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549" name="Google Shape;1549;p13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550" name="Google Shape;1550;p13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1551" name="Google Shape;1551;p13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1552" name="Google Shape;1552;p13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53" name="Google Shape;1553;p13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54" name="Google Shape;1554;p13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55" name="Google Shape;1555;p13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56" name="Google Shape;1556;p13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57" name="Google Shape;1557;p13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58" name="Google Shape;1558;p13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59" name="Google Shape;1559;p13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60" name="Google Shape;1560;p13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61" name="Google Shape;1561;p13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62" name="Google Shape;1562;p13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63" name="Google Shape;1563;p13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64" name="Google Shape;1564;p13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65" name="Google Shape;1565;p13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66" name="Google Shape;1566;p13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67" name="Google Shape;1567;p13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68" name="Google Shape;1568;p13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69" name="Google Shape;1569;p13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70" name="Google Shape;1570;p13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71" name="Google Shape;1571;p13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72" name="Google Shape;1572;p13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73" name="Google Shape;1573;p13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74" name="Google Shape;1574;p13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75" name="Google Shape;1575;p13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76" name="Google Shape;1576;p13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77" name="Google Shape;1577;p13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78" name="Google Shape;1578;p13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79" name="Google Shape;1579;p13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80" name="Google Shape;1580;p13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81" name="Google Shape;1581;p13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82" name="Google Shape;1582;p13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83" name="Google Shape;1583;p13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84" name="Google Shape;1584;p13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85" name="Google Shape;1585;p13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86" name="Google Shape;1586;p13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87" name="Google Shape;1587;p13"/>
          <p:cNvSpPr txBox="1"/>
          <p:nvPr/>
        </p:nvSpPr>
        <p:spPr>
          <a:xfrm>
            <a:off x="1447800" y="304800"/>
            <a:ext cx="38100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happens if the profit margin from bread drops to $ 40 per batch??</a:t>
            </a:r>
            <a:endParaRPr/>
          </a:p>
        </p:txBody>
      </p:sp>
      <p:cxnSp>
        <p:nvCxnSpPr>
          <p:cNvPr id="1588" name="Google Shape;1588;p13"/>
          <p:cNvCxnSpPr/>
          <p:nvPr/>
        </p:nvCxnSpPr>
        <p:spPr>
          <a:xfrm>
            <a:off x="1219200" y="1981200"/>
            <a:ext cx="4586287" cy="3840162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89" name="Google Shape;1589;p13"/>
          <p:cNvCxnSpPr/>
          <p:nvPr/>
        </p:nvCxnSpPr>
        <p:spPr>
          <a:xfrm flipH="1">
            <a:off x="6934200" y="4572000"/>
            <a:ext cx="533400" cy="1219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lg" w="lg" type="triangle"/>
          </a:ln>
        </p:spPr>
      </p:cxnSp>
      <p:sp>
        <p:nvSpPr>
          <p:cNvPr id="1590" name="Google Shape;1590;p13"/>
          <p:cNvSpPr txBox="1"/>
          <p:nvPr/>
        </p:nvSpPr>
        <p:spPr>
          <a:xfrm>
            <a:off x="5832475" y="3581400"/>
            <a:ext cx="3421062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125 Breads @ $40 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$5,000 </a:t>
            </a:r>
            <a:endParaRPr/>
          </a:p>
        </p:txBody>
      </p:sp>
      <p:cxnSp>
        <p:nvCxnSpPr>
          <p:cNvPr id="1591" name="Google Shape;1591;p13"/>
          <p:cNvCxnSpPr/>
          <p:nvPr/>
        </p:nvCxnSpPr>
        <p:spPr>
          <a:xfrm>
            <a:off x="1231900" y="1981200"/>
            <a:ext cx="5727700" cy="38227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92" name="Google Shape;1592;p13"/>
          <p:cNvSpPr txBox="1"/>
          <p:nvPr/>
        </p:nvSpPr>
        <p:spPr>
          <a:xfrm>
            <a:off x="4114800" y="2362200"/>
            <a:ext cx="37338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$5,000 profit line no longer touches the feasible region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4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9" name="Google Shape;1599;p14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00" name="Google Shape;1600;p14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01" name="Google Shape;1601;p14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602" name="Google Shape;1602;p14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1603" name="Google Shape;1603;p14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1604" name="Google Shape;1604;p14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605" name="Google Shape;1605;p14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606" name="Google Shape;1606;p14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607" name="Google Shape;1607;p14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608" name="Google Shape;1608;p14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609" name="Google Shape;1609;p14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610" name="Google Shape;1610;p14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1611" name="Google Shape;1611;p14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612" name="Google Shape;1612;p14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613" name="Google Shape;1613;p14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14" name="Google Shape;1614;p14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15" name="Google Shape;1615;p14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16" name="Google Shape;1616;p14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17" name="Google Shape;1617;p14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18" name="Google Shape;1618;p14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19" name="Google Shape;1619;p14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20" name="Google Shape;1620;p14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21" name="Google Shape;1621;p14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22" name="Google Shape;1622;p14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23" name="Google Shape;1623;p14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24" name="Google Shape;1624;p14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25" name="Google Shape;1625;p14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26" name="Google Shape;1626;p14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27" name="Google Shape;1627;p14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28" name="Google Shape;1628;p14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629" name="Google Shape;1629;p14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630" name="Google Shape;1630;p14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631" name="Google Shape;1631;p14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632" name="Google Shape;1632;p14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633" name="Google Shape;1633;p14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634" name="Google Shape;1634;p14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1635" name="Google Shape;1635;p14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1636" name="Google Shape;1636;p14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37" name="Google Shape;1637;p14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38" name="Google Shape;1638;p14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39" name="Google Shape;1639;p14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40" name="Google Shape;1640;p14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41" name="Google Shape;1641;p14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42" name="Google Shape;1642;p14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43" name="Google Shape;1643;p14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44" name="Google Shape;1644;p14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45" name="Google Shape;1645;p14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46" name="Google Shape;1646;p14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47" name="Google Shape;1647;p14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48" name="Google Shape;1648;p14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49" name="Google Shape;1649;p14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50" name="Google Shape;1650;p14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51" name="Google Shape;1651;p14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52" name="Google Shape;1652;p14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53" name="Google Shape;1653;p14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54" name="Google Shape;1654;p14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55" name="Google Shape;1655;p14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56" name="Google Shape;1656;p14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57" name="Google Shape;1657;p14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58" name="Google Shape;1658;p14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59" name="Google Shape;1659;p14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60" name="Google Shape;1660;p14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61" name="Google Shape;1661;p14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62" name="Google Shape;1662;p14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63" name="Google Shape;1663;p14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64" name="Google Shape;1664;p14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65" name="Google Shape;1665;p14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66" name="Google Shape;1666;p14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67" name="Google Shape;1667;p14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68" name="Google Shape;1668;p14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69" name="Google Shape;1669;p14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70" name="Google Shape;1670;p14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71" name="Google Shape;1671;p14"/>
          <p:cNvSpPr txBox="1"/>
          <p:nvPr/>
        </p:nvSpPr>
        <p:spPr>
          <a:xfrm>
            <a:off x="1447800" y="304800"/>
            <a:ext cx="38100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happens if the profit margin from bread drops to $ 40 per batch??</a:t>
            </a:r>
            <a:endParaRPr/>
          </a:p>
        </p:txBody>
      </p:sp>
      <p:cxnSp>
        <p:nvCxnSpPr>
          <p:cNvPr id="1672" name="Google Shape;1672;p14"/>
          <p:cNvCxnSpPr/>
          <p:nvPr/>
        </p:nvCxnSpPr>
        <p:spPr>
          <a:xfrm>
            <a:off x="1219200" y="1981200"/>
            <a:ext cx="4586287" cy="3840162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1673" name="Google Shape;1673;p14"/>
          <p:cNvGrpSpPr/>
          <p:nvPr/>
        </p:nvGrpSpPr>
        <p:grpSpPr>
          <a:xfrm>
            <a:off x="533400" y="3276600"/>
            <a:ext cx="2882900" cy="3111500"/>
            <a:chOff x="336" y="2064"/>
            <a:chExt cx="1816" cy="1960"/>
          </a:xfrm>
        </p:grpSpPr>
        <p:grpSp>
          <p:nvGrpSpPr>
            <p:cNvPr id="1674" name="Google Shape;1674;p14"/>
            <p:cNvGrpSpPr/>
            <p:nvPr/>
          </p:nvGrpSpPr>
          <p:grpSpPr>
            <a:xfrm>
              <a:off x="648" y="2200"/>
              <a:ext cx="1272" cy="1600"/>
              <a:chOff x="648" y="2200"/>
              <a:chExt cx="1272" cy="1600"/>
            </a:xfrm>
          </p:grpSpPr>
          <p:cxnSp>
            <p:nvCxnSpPr>
              <p:cNvPr id="1675" name="Google Shape;1675;p14"/>
              <p:cNvCxnSpPr/>
              <p:nvPr/>
            </p:nvCxnSpPr>
            <p:spPr>
              <a:xfrm>
                <a:off x="648" y="2208"/>
                <a:ext cx="1224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676" name="Google Shape;1676;p14"/>
              <p:cNvCxnSpPr/>
              <p:nvPr/>
            </p:nvCxnSpPr>
            <p:spPr>
              <a:xfrm>
                <a:off x="1888" y="2200"/>
                <a:ext cx="32" cy="160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1677" name="Google Shape;1677;p14"/>
            <p:cNvSpPr/>
            <p:nvPr/>
          </p:nvSpPr>
          <p:spPr>
            <a:xfrm>
              <a:off x="1680" y="3704"/>
              <a:ext cx="472" cy="320"/>
            </a:xfrm>
            <a:custGeom>
              <a:rect b="b" l="l" r="r" t="t"/>
              <a:pathLst>
                <a:path extrusionOk="0" h="320" w="472">
                  <a:moveTo>
                    <a:pt x="96" y="280"/>
                  </a:moveTo>
                  <a:cubicBezTo>
                    <a:pt x="168" y="296"/>
                    <a:pt x="392" y="320"/>
                    <a:pt x="432" y="280"/>
                  </a:cubicBezTo>
                  <a:cubicBezTo>
                    <a:pt x="472" y="240"/>
                    <a:pt x="392" y="80"/>
                    <a:pt x="336" y="40"/>
                  </a:cubicBezTo>
                  <a:cubicBezTo>
                    <a:pt x="280" y="0"/>
                    <a:pt x="152" y="16"/>
                    <a:pt x="96" y="40"/>
                  </a:cubicBezTo>
                  <a:cubicBezTo>
                    <a:pt x="40" y="64"/>
                    <a:pt x="0" y="144"/>
                    <a:pt x="0" y="184"/>
                  </a:cubicBezTo>
                  <a:cubicBezTo>
                    <a:pt x="0" y="224"/>
                    <a:pt x="24" y="264"/>
                    <a:pt x="96" y="280"/>
                  </a:cubicBez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14"/>
            <p:cNvSpPr/>
            <p:nvPr/>
          </p:nvSpPr>
          <p:spPr>
            <a:xfrm>
              <a:off x="336" y="2064"/>
              <a:ext cx="472" cy="320"/>
            </a:xfrm>
            <a:custGeom>
              <a:rect b="b" l="l" r="r" t="t"/>
              <a:pathLst>
                <a:path extrusionOk="0" h="320" w="472">
                  <a:moveTo>
                    <a:pt x="96" y="280"/>
                  </a:moveTo>
                  <a:cubicBezTo>
                    <a:pt x="168" y="296"/>
                    <a:pt x="392" y="320"/>
                    <a:pt x="432" y="280"/>
                  </a:cubicBezTo>
                  <a:cubicBezTo>
                    <a:pt x="472" y="240"/>
                    <a:pt x="392" y="80"/>
                    <a:pt x="336" y="40"/>
                  </a:cubicBezTo>
                  <a:cubicBezTo>
                    <a:pt x="280" y="0"/>
                    <a:pt x="152" y="16"/>
                    <a:pt x="96" y="40"/>
                  </a:cubicBezTo>
                  <a:cubicBezTo>
                    <a:pt x="40" y="64"/>
                    <a:pt x="0" y="144"/>
                    <a:pt x="0" y="184"/>
                  </a:cubicBezTo>
                  <a:cubicBezTo>
                    <a:pt x="0" y="224"/>
                    <a:pt x="24" y="264"/>
                    <a:pt x="96" y="280"/>
                  </a:cubicBez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79" name="Google Shape;1679;p14"/>
          <p:cNvCxnSpPr/>
          <p:nvPr/>
        </p:nvCxnSpPr>
        <p:spPr>
          <a:xfrm>
            <a:off x="1231900" y="1981200"/>
            <a:ext cx="5727700" cy="38227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80" name="Google Shape;1680;p14"/>
          <p:cNvCxnSpPr/>
          <p:nvPr/>
        </p:nvCxnSpPr>
        <p:spPr>
          <a:xfrm>
            <a:off x="1054100" y="2184400"/>
            <a:ext cx="5727700" cy="38227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81" name="Google Shape;1681;p14"/>
          <p:cNvSpPr txBox="1"/>
          <p:nvPr/>
        </p:nvSpPr>
        <p:spPr>
          <a:xfrm>
            <a:off x="4114800" y="2362200"/>
            <a:ext cx="373380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Still the same optimal solution, but the total profit reduces 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 * $40 + 50* $60 = $4,600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6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5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8" name="Google Shape;1688;p15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89" name="Google Shape;1689;p15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90" name="Google Shape;1690;p15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691" name="Google Shape;1691;p15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1692" name="Google Shape;1692;p15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1693" name="Google Shape;1693;p15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694" name="Google Shape;1694;p15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695" name="Google Shape;1695;p15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696" name="Google Shape;1696;p15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697" name="Google Shape;1697;p15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698" name="Google Shape;1698;p15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699" name="Google Shape;1699;p15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1700" name="Google Shape;1700;p15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701" name="Google Shape;1701;p15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702" name="Google Shape;1702;p15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03" name="Google Shape;1703;p15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04" name="Google Shape;1704;p15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05" name="Google Shape;1705;p15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06" name="Google Shape;1706;p15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07" name="Google Shape;1707;p15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08" name="Google Shape;1708;p15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09" name="Google Shape;1709;p15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10" name="Google Shape;1710;p15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11" name="Google Shape;1711;p15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12" name="Google Shape;1712;p15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13" name="Google Shape;1713;p15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14" name="Google Shape;1714;p15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15" name="Google Shape;1715;p15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16" name="Google Shape;1716;p15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17" name="Google Shape;1717;p15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718" name="Google Shape;1718;p15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719" name="Google Shape;1719;p15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720" name="Google Shape;1720;p15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721" name="Google Shape;1721;p15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722" name="Google Shape;1722;p15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723" name="Google Shape;1723;p15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1724" name="Google Shape;1724;p15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1725" name="Google Shape;1725;p15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26" name="Google Shape;1726;p15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27" name="Google Shape;1727;p15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28" name="Google Shape;1728;p15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29" name="Google Shape;1729;p15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30" name="Google Shape;1730;p15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31" name="Google Shape;1731;p15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32" name="Google Shape;1732;p15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33" name="Google Shape;1733;p15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34" name="Google Shape;1734;p15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35" name="Google Shape;1735;p15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36" name="Google Shape;1736;p15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37" name="Google Shape;1737;p15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38" name="Google Shape;1738;p15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39" name="Google Shape;1739;p15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40" name="Google Shape;1740;p15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41" name="Google Shape;1741;p15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42" name="Google Shape;1742;p15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43" name="Google Shape;1743;p15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44" name="Google Shape;1744;p15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45" name="Google Shape;1745;p15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46" name="Google Shape;1746;p15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47" name="Google Shape;1747;p15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48" name="Google Shape;1748;p15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49" name="Google Shape;1749;p15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50" name="Google Shape;1750;p15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51" name="Google Shape;1751;p15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52" name="Google Shape;1752;p15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53" name="Google Shape;1753;p15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54" name="Google Shape;1754;p15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55" name="Google Shape;1755;p15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56" name="Google Shape;1756;p15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57" name="Google Shape;1757;p15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58" name="Google Shape;1758;p15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59" name="Google Shape;1759;p15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60" name="Google Shape;1760;p15"/>
          <p:cNvCxnSpPr/>
          <p:nvPr/>
        </p:nvCxnSpPr>
        <p:spPr>
          <a:xfrm>
            <a:off x="1219200" y="1981200"/>
            <a:ext cx="4586287" cy="3840162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61" name="Google Shape;1761;p15"/>
          <p:cNvCxnSpPr/>
          <p:nvPr/>
        </p:nvCxnSpPr>
        <p:spPr>
          <a:xfrm>
            <a:off x="1219200" y="1981200"/>
            <a:ext cx="7620000" cy="25400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62" name="Google Shape;1762;p15"/>
          <p:cNvSpPr txBox="1"/>
          <p:nvPr/>
        </p:nvSpPr>
        <p:spPr>
          <a:xfrm>
            <a:off x="1447800" y="304800"/>
            <a:ext cx="38100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happens if the profit margin from bread drops to $ 20 per batch??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6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9" name="Google Shape;1769;p16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70" name="Google Shape;1770;p16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71" name="Google Shape;1771;p16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772" name="Google Shape;1772;p16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1773" name="Google Shape;1773;p16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1774" name="Google Shape;1774;p16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775" name="Google Shape;1775;p16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776" name="Google Shape;1776;p16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777" name="Google Shape;1777;p16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778" name="Google Shape;1778;p16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779" name="Google Shape;1779;p16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780" name="Google Shape;1780;p16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1781" name="Google Shape;1781;p16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782" name="Google Shape;1782;p16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783" name="Google Shape;1783;p16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84" name="Google Shape;1784;p16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85" name="Google Shape;1785;p16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86" name="Google Shape;1786;p16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87" name="Google Shape;1787;p16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88" name="Google Shape;1788;p16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89" name="Google Shape;1789;p16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90" name="Google Shape;1790;p16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91" name="Google Shape;1791;p16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92" name="Google Shape;1792;p16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93" name="Google Shape;1793;p16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94" name="Google Shape;1794;p16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95" name="Google Shape;1795;p16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96" name="Google Shape;1796;p16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97" name="Google Shape;1797;p16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98" name="Google Shape;1798;p16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799" name="Google Shape;1799;p16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800" name="Google Shape;1800;p16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801" name="Google Shape;1801;p16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802" name="Google Shape;1802;p16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803" name="Google Shape;1803;p16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804" name="Google Shape;1804;p16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1805" name="Google Shape;1805;p16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1806" name="Google Shape;1806;p16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07" name="Google Shape;1807;p16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08" name="Google Shape;1808;p16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09" name="Google Shape;1809;p16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10" name="Google Shape;1810;p16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11" name="Google Shape;1811;p16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12" name="Google Shape;1812;p16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13" name="Google Shape;1813;p16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14" name="Google Shape;1814;p16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15" name="Google Shape;1815;p16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16" name="Google Shape;1816;p16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17" name="Google Shape;1817;p16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18" name="Google Shape;1818;p16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19" name="Google Shape;1819;p16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20" name="Google Shape;1820;p16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21" name="Google Shape;1821;p16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22" name="Google Shape;1822;p16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23" name="Google Shape;1823;p16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24" name="Google Shape;1824;p16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25" name="Google Shape;1825;p16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26" name="Google Shape;1826;p16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27" name="Google Shape;1827;p16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28" name="Google Shape;1828;p16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29" name="Google Shape;1829;p16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30" name="Google Shape;1830;p16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31" name="Google Shape;1831;p16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32" name="Google Shape;1832;p16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33" name="Google Shape;1833;p16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34" name="Google Shape;1834;p16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35" name="Google Shape;1835;p16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36" name="Google Shape;1836;p16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37" name="Google Shape;1837;p16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38" name="Google Shape;1838;p16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39" name="Google Shape;1839;p16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40" name="Google Shape;1840;p16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41" name="Google Shape;1841;p16"/>
          <p:cNvSpPr txBox="1"/>
          <p:nvPr/>
        </p:nvSpPr>
        <p:spPr>
          <a:xfrm>
            <a:off x="1447800" y="304800"/>
            <a:ext cx="38100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happens if the profit margin from bread drops to $ 20 per batch??</a:t>
            </a:r>
            <a:endParaRPr/>
          </a:p>
        </p:txBody>
      </p:sp>
      <p:cxnSp>
        <p:nvCxnSpPr>
          <p:cNvPr id="1842" name="Google Shape;1842;p16"/>
          <p:cNvCxnSpPr/>
          <p:nvPr/>
        </p:nvCxnSpPr>
        <p:spPr>
          <a:xfrm>
            <a:off x="1219200" y="1981200"/>
            <a:ext cx="4586287" cy="3840162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1843" name="Google Shape;1843;p16"/>
          <p:cNvGrpSpPr/>
          <p:nvPr/>
        </p:nvGrpSpPr>
        <p:grpSpPr>
          <a:xfrm>
            <a:off x="533400" y="2895600"/>
            <a:ext cx="2044700" cy="3479800"/>
            <a:chOff x="336" y="1824"/>
            <a:chExt cx="1288" cy="2192"/>
          </a:xfrm>
        </p:grpSpPr>
        <p:cxnSp>
          <p:nvCxnSpPr>
            <p:cNvPr id="1844" name="Google Shape;1844;p16"/>
            <p:cNvCxnSpPr/>
            <p:nvPr/>
          </p:nvCxnSpPr>
          <p:spPr>
            <a:xfrm>
              <a:off x="648" y="1920"/>
              <a:ext cx="657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45" name="Google Shape;1845;p16"/>
            <p:cNvCxnSpPr/>
            <p:nvPr/>
          </p:nvCxnSpPr>
          <p:spPr>
            <a:xfrm>
              <a:off x="1308" y="1920"/>
              <a:ext cx="38" cy="188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846" name="Google Shape;1846;p16"/>
            <p:cNvSpPr/>
            <p:nvPr/>
          </p:nvSpPr>
          <p:spPr>
            <a:xfrm>
              <a:off x="1152" y="3696"/>
              <a:ext cx="472" cy="320"/>
            </a:xfrm>
            <a:custGeom>
              <a:rect b="b" l="l" r="r" t="t"/>
              <a:pathLst>
                <a:path extrusionOk="0" h="320" w="472">
                  <a:moveTo>
                    <a:pt x="96" y="280"/>
                  </a:moveTo>
                  <a:cubicBezTo>
                    <a:pt x="168" y="296"/>
                    <a:pt x="392" y="320"/>
                    <a:pt x="432" y="280"/>
                  </a:cubicBezTo>
                  <a:cubicBezTo>
                    <a:pt x="472" y="240"/>
                    <a:pt x="392" y="80"/>
                    <a:pt x="336" y="40"/>
                  </a:cubicBezTo>
                  <a:cubicBezTo>
                    <a:pt x="280" y="0"/>
                    <a:pt x="152" y="16"/>
                    <a:pt x="96" y="40"/>
                  </a:cubicBezTo>
                  <a:cubicBezTo>
                    <a:pt x="40" y="64"/>
                    <a:pt x="0" y="144"/>
                    <a:pt x="0" y="184"/>
                  </a:cubicBezTo>
                  <a:cubicBezTo>
                    <a:pt x="0" y="224"/>
                    <a:pt x="24" y="264"/>
                    <a:pt x="96" y="280"/>
                  </a:cubicBez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6"/>
            <p:cNvSpPr/>
            <p:nvPr/>
          </p:nvSpPr>
          <p:spPr>
            <a:xfrm>
              <a:off x="336" y="1824"/>
              <a:ext cx="472" cy="320"/>
            </a:xfrm>
            <a:custGeom>
              <a:rect b="b" l="l" r="r" t="t"/>
              <a:pathLst>
                <a:path extrusionOk="0" h="320" w="472">
                  <a:moveTo>
                    <a:pt x="96" y="280"/>
                  </a:moveTo>
                  <a:cubicBezTo>
                    <a:pt x="168" y="296"/>
                    <a:pt x="392" y="320"/>
                    <a:pt x="432" y="280"/>
                  </a:cubicBezTo>
                  <a:cubicBezTo>
                    <a:pt x="472" y="240"/>
                    <a:pt x="392" y="80"/>
                    <a:pt x="336" y="40"/>
                  </a:cubicBezTo>
                  <a:cubicBezTo>
                    <a:pt x="280" y="0"/>
                    <a:pt x="152" y="16"/>
                    <a:pt x="96" y="40"/>
                  </a:cubicBezTo>
                  <a:cubicBezTo>
                    <a:pt x="40" y="64"/>
                    <a:pt x="0" y="144"/>
                    <a:pt x="0" y="184"/>
                  </a:cubicBezTo>
                  <a:cubicBezTo>
                    <a:pt x="0" y="224"/>
                    <a:pt x="24" y="264"/>
                    <a:pt x="96" y="280"/>
                  </a:cubicBez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48" name="Google Shape;1848;p16"/>
          <p:cNvCxnSpPr/>
          <p:nvPr/>
        </p:nvCxnSpPr>
        <p:spPr>
          <a:xfrm>
            <a:off x="1219200" y="2743200"/>
            <a:ext cx="7620000" cy="25400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49" name="Google Shape;1849;p16"/>
          <p:cNvSpPr txBox="1"/>
          <p:nvPr/>
        </p:nvSpPr>
        <p:spPr>
          <a:xfrm>
            <a:off x="4724400" y="1981200"/>
            <a:ext cx="3733800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optimal solution jumps to another corner: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 batches of cake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batches of bread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total profit reduces 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* $20 + 60* $60 = $4,000</a:t>
            </a:r>
            <a:endParaRPr/>
          </a:p>
        </p:txBody>
      </p:sp>
      <p:cxnSp>
        <p:nvCxnSpPr>
          <p:cNvPr id="1850" name="Google Shape;1850;p16"/>
          <p:cNvCxnSpPr/>
          <p:nvPr/>
        </p:nvCxnSpPr>
        <p:spPr>
          <a:xfrm>
            <a:off x="1219200" y="1981200"/>
            <a:ext cx="7620000" cy="25400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8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17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7" name="Google Shape;1857;p17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58" name="Google Shape;1858;p17"/>
          <p:cNvCxnSpPr/>
          <p:nvPr/>
        </p:nvCxnSpPr>
        <p:spPr>
          <a:xfrm rot="10800000">
            <a:off x="1219200" y="5805487"/>
            <a:ext cx="777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59" name="Google Shape;1859;p17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860" name="Google Shape;1860;p17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1861" name="Google Shape;1861;p17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1862" name="Google Shape;1862;p17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863" name="Google Shape;1863;p17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864" name="Google Shape;1864;p17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865" name="Google Shape;1865;p17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866" name="Google Shape;1866;p17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867" name="Google Shape;1867;p17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868" name="Google Shape;1868;p17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1869" name="Google Shape;1869;p17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870" name="Google Shape;1870;p17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871" name="Google Shape;1871;p17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72" name="Google Shape;1872;p17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73" name="Google Shape;1873;p17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74" name="Google Shape;1874;p17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75" name="Google Shape;1875;p17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76" name="Google Shape;1876;p17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77" name="Google Shape;1877;p17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78" name="Google Shape;1878;p17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79" name="Google Shape;1879;p17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80" name="Google Shape;1880;p17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81" name="Google Shape;1881;p17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82" name="Google Shape;1882;p17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83" name="Google Shape;1883;p17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84" name="Google Shape;1884;p17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85" name="Google Shape;1885;p17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86" name="Google Shape;1886;p17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887" name="Google Shape;1887;p17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888" name="Google Shape;1888;p17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889" name="Google Shape;1889;p17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890" name="Google Shape;1890;p17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891" name="Google Shape;1891;p17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892" name="Google Shape;1892;p17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1893" name="Google Shape;1893;p17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1894" name="Google Shape;1894;p17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95" name="Google Shape;1895;p17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96" name="Google Shape;1896;p17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97" name="Google Shape;1897;p17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98" name="Google Shape;1898;p17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99" name="Google Shape;1899;p17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00" name="Google Shape;1900;p17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01" name="Google Shape;1901;p17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02" name="Google Shape;1902;p17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03" name="Google Shape;1903;p17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04" name="Google Shape;1904;p17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05" name="Google Shape;1905;p17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06" name="Google Shape;1906;p17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07" name="Google Shape;1907;p17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08" name="Google Shape;1908;p17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09" name="Google Shape;1909;p17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10" name="Google Shape;1910;p17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11" name="Google Shape;1911;p17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12" name="Google Shape;1912;p17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13" name="Google Shape;1913;p17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14" name="Google Shape;1914;p17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15" name="Google Shape;1915;p17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16" name="Google Shape;1916;p17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17" name="Google Shape;1917;p17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18" name="Google Shape;1918;p17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19" name="Google Shape;1919;p17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20" name="Google Shape;1920;p17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21" name="Google Shape;1921;p17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22" name="Google Shape;1922;p17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23" name="Google Shape;1923;p17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24" name="Google Shape;1924;p17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25" name="Google Shape;1925;p17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26" name="Google Shape;1926;p17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27" name="Google Shape;1927;p17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28" name="Google Shape;1928;p17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29" name="Google Shape;1929;p17"/>
          <p:cNvSpPr txBox="1"/>
          <p:nvPr/>
        </p:nvSpPr>
        <p:spPr>
          <a:xfrm>
            <a:off x="1447800" y="304800"/>
            <a:ext cx="38100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happens if the profit margin from bread drops to $ 30 per batch??</a:t>
            </a:r>
            <a:endParaRPr/>
          </a:p>
        </p:txBody>
      </p:sp>
      <p:cxnSp>
        <p:nvCxnSpPr>
          <p:cNvPr id="1930" name="Google Shape;1930;p17"/>
          <p:cNvCxnSpPr/>
          <p:nvPr/>
        </p:nvCxnSpPr>
        <p:spPr>
          <a:xfrm>
            <a:off x="1219200" y="1981200"/>
            <a:ext cx="4586287" cy="3840162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31" name="Google Shape;1931;p17"/>
          <p:cNvCxnSpPr/>
          <p:nvPr/>
        </p:nvCxnSpPr>
        <p:spPr>
          <a:xfrm>
            <a:off x="1219200" y="1981200"/>
            <a:ext cx="7575550" cy="3787775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32" name="Google Shape;1932;p17"/>
          <p:cNvCxnSpPr/>
          <p:nvPr/>
        </p:nvCxnSpPr>
        <p:spPr>
          <a:xfrm rot="10800000">
            <a:off x="8077200" y="57943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33" name="Google Shape;1933;p17"/>
          <p:cNvCxnSpPr/>
          <p:nvPr/>
        </p:nvCxnSpPr>
        <p:spPr>
          <a:xfrm rot="10800000">
            <a:off x="8534400" y="57943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34" name="Google Shape;1934;p17"/>
          <p:cNvCxnSpPr/>
          <p:nvPr/>
        </p:nvCxnSpPr>
        <p:spPr>
          <a:xfrm>
            <a:off x="8305800" y="57912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35" name="Google Shape;1935;p17"/>
          <p:cNvCxnSpPr/>
          <p:nvPr/>
        </p:nvCxnSpPr>
        <p:spPr>
          <a:xfrm rot="10800000">
            <a:off x="8534400" y="57816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36" name="Google Shape;1936;p17"/>
          <p:cNvCxnSpPr/>
          <p:nvPr/>
        </p:nvCxnSpPr>
        <p:spPr>
          <a:xfrm rot="10800000">
            <a:off x="8991600" y="57816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37" name="Google Shape;1937;p17"/>
          <p:cNvCxnSpPr/>
          <p:nvPr/>
        </p:nvCxnSpPr>
        <p:spPr>
          <a:xfrm>
            <a:off x="8763000" y="57785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38" name="Google Shape;1938;p17"/>
          <p:cNvSpPr txBox="1"/>
          <p:nvPr/>
        </p:nvSpPr>
        <p:spPr>
          <a:xfrm>
            <a:off x="8258175" y="5943600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160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18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5" name="Google Shape;1945;p18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46" name="Google Shape;1946;p18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47" name="Google Shape;1947;p18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948" name="Google Shape;1948;p18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1949" name="Google Shape;1949;p18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1950" name="Google Shape;1950;p18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951" name="Google Shape;1951;p18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952" name="Google Shape;1952;p18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953" name="Google Shape;1953;p18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954" name="Google Shape;1954;p18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955" name="Google Shape;1955;p18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956" name="Google Shape;1956;p18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1957" name="Google Shape;1957;p18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958" name="Google Shape;1958;p18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959" name="Google Shape;1959;p18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60" name="Google Shape;1960;p18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61" name="Google Shape;1961;p18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62" name="Google Shape;1962;p18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63" name="Google Shape;1963;p18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64" name="Google Shape;1964;p18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65" name="Google Shape;1965;p18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66" name="Google Shape;1966;p18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67" name="Google Shape;1967;p18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68" name="Google Shape;1968;p18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69" name="Google Shape;1969;p18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70" name="Google Shape;1970;p18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71" name="Google Shape;1971;p18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72" name="Google Shape;1972;p18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73" name="Google Shape;1973;p18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74" name="Google Shape;1974;p18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975" name="Google Shape;1975;p18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976" name="Google Shape;1976;p18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977" name="Google Shape;1977;p18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978" name="Google Shape;1978;p18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979" name="Google Shape;1979;p18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980" name="Google Shape;1980;p18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1981" name="Google Shape;1981;p18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1982" name="Google Shape;1982;p18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83" name="Google Shape;1983;p18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84" name="Google Shape;1984;p18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85" name="Google Shape;1985;p18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86" name="Google Shape;1986;p18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87" name="Google Shape;1987;p18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88" name="Google Shape;1988;p18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89" name="Google Shape;1989;p18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90" name="Google Shape;1990;p18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91" name="Google Shape;1991;p18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92" name="Google Shape;1992;p18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93" name="Google Shape;1993;p18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94" name="Google Shape;1994;p18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95" name="Google Shape;1995;p18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96" name="Google Shape;1996;p18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97" name="Google Shape;1997;p18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98" name="Google Shape;1998;p18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99" name="Google Shape;1999;p18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00" name="Google Shape;2000;p18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01" name="Google Shape;2001;p18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02" name="Google Shape;2002;p18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03" name="Google Shape;2003;p18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04" name="Google Shape;2004;p18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05" name="Google Shape;2005;p18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06" name="Google Shape;2006;p18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07" name="Google Shape;2007;p18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08" name="Google Shape;2008;p18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09" name="Google Shape;2009;p18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10" name="Google Shape;2010;p18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11" name="Google Shape;2011;p18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12" name="Google Shape;2012;p18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13" name="Google Shape;2013;p18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14" name="Google Shape;2014;p18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15" name="Google Shape;2015;p18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16" name="Google Shape;2016;p18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017" name="Google Shape;2017;p18"/>
          <p:cNvSpPr txBox="1"/>
          <p:nvPr/>
        </p:nvSpPr>
        <p:spPr>
          <a:xfrm>
            <a:off x="1447800" y="304800"/>
            <a:ext cx="38100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happens if the profit margin from bread drops to $ 30 per batch??</a:t>
            </a:r>
            <a:endParaRPr/>
          </a:p>
        </p:txBody>
      </p:sp>
      <p:cxnSp>
        <p:nvCxnSpPr>
          <p:cNvPr id="2018" name="Google Shape;2018;p18"/>
          <p:cNvCxnSpPr/>
          <p:nvPr/>
        </p:nvCxnSpPr>
        <p:spPr>
          <a:xfrm>
            <a:off x="1219200" y="1981200"/>
            <a:ext cx="4586287" cy="3840162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19" name="Google Shape;2019;p18"/>
          <p:cNvCxnSpPr/>
          <p:nvPr/>
        </p:nvCxnSpPr>
        <p:spPr>
          <a:xfrm>
            <a:off x="1219200" y="2590800"/>
            <a:ext cx="6400800" cy="3200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2020" name="Google Shape;2020;p18"/>
          <p:cNvGrpSpPr/>
          <p:nvPr/>
        </p:nvGrpSpPr>
        <p:grpSpPr>
          <a:xfrm>
            <a:off x="2143125" y="2209800"/>
            <a:ext cx="5019675" cy="1465262"/>
            <a:chOff x="1350" y="1392"/>
            <a:chExt cx="3162" cy="923"/>
          </a:xfrm>
        </p:grpSpPr>
        <p:sp>
          <p:nvSpPr>
            <p:cNvPr id="2021" name="Google Shape;2021;p18"/>
            <p:cNvSpPr txBox="1"/>
            <p:nvPr/>
          </p:nvSpPr>
          <p:spPr>
            <a:xfrm>
              <a:off x="2160" y="1392"/>
              <a:ext cx="2352" cy="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This is the point where it tilts from one solution to the other. All points on this interval are optimal.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I.e. 40*$30 + 50*$60 = $4,200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 20*$30 + 60*$60 = $4,200</a:t>
              </a:r>
              <a:endParaRPr/>
            </a:p>
          </p:txBody>
        </p:sp>
        <p:grpSp>
          <p:nvGrpSpPr>
            <p:cNvPr id="2022" name="Google Shape;2022;p18"/>
            <p:cNvGrpSpPr/>
            <p:nvPr/>
          </p:nvGrpSpPr>
          <p:grpSpPr>
            <a:xfrm>
              <a:off x="1350" y="1586"/>
              <a:ext cx="806" cy="624"/>
              <a:chOff x="1350" y="1586"/>
              <a:chExt cx="806" cy="624"/>
            </a:xfrm>
          </p:grpSpPr>
          <p:cxnSp>
            <p:nvCxnSpPr>
              <p:cNvPr id="2023" name="Google Shape;2023;p18"/>
              <p:cNvCxnSpPr/>
              <p:nvPr/>
            </p:nvCxnSpPr>
            <p:spPr>
              <a:xfrm flipH="1">
                <a:off x="1350" y="1586"/>
                <a:ext cx="240" cy="33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FF0000"/>
                </a:solidFill>
                <a:prstDash val="solid"/>
                <a:miter lim="800000"/>
                <a:headEnd len="med" w="med" type="none"/>
                <a:tailEnd len="lg" w="lg" type="triangle"/>
              </a:ln>
            </p:spPr>
          </p:cxnSp>
          <p:cxnSp>
            <p:nvCxnSpPr>
              <p:cNvPr id="2024" name="Google Shape;2024;p18"/>
              <p:cNvCxnSpPr/>
              <p:nvPr/>
            </p:nvCxnSpPr>
            <p:spPr>
              <a:xfrm flipH="1">
                <a:off x="1446" y="1630"/>
                <a:ext cx="240" cy="33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FF0000"/>
                </a:solidFill>
                <a:prstDash val="solid"/>
                <a:miter lim="800000"/>
                <a:headEnd len="med" w="med" type="none"/>
                <a:tailEnd len="lg" w="lg" type="triangle"/>
              </a:ln>
            </p:spPr>
          </p:cxnSp>
          <p:cxnSp>
            <p:nvCxnSpPr>
              <p:cNvPr id="2025" name="Google Shape;2025;p18"/>
              <p:cNvCxnSpPr/>
              <p:nvPr/>
            </p:nvCxnSpPr>
            <p:spPr>
              <a:xfrm flipH="1">
                <a:off x="1542" y="1674"/>
                <a:ext cx="240" cy="33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FF0000"/>
                </a:solidFill>
                <a:prstDash val="solid"/>
                <a:miter lim="800000"/>
                <a:headEnd len="med" w="med" type="none"/>
                <a:tailEnd len="lg" w="lg" type="triangle"/>
              </a:ln>
            </p:spPr>
          </p:cxnSp>
          <p:cxnSp>
            <p:nvCxnSpPr>
              <p:cNvPr id="2026" name="Google Shape;2026;p18"/>
              <p:cNvCxnSpPr/>
              <p:nvPr/>
            </p:nvCxnSpPr>
            <p:spPr>
              <a:xfrm flipH="1">
                <a:off x="1638" y="1718"/>
                <a:ext cx="240" cy="33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FF0000"/>
                </a:solidFill>
                <a:prstDash val="solid"/>
                <a:miter lim="800000"/>
                <a:headEnd len="med" w="med" type="none"/>
                <a:tailEnd len="lg" w="lg" type="triangle"/>
              </a:ln>
            </p:spPr>
          </p:cxnSp>
          <p:cxnSp>
            <p:nvCxnSpPr>
              <p:cNvPr id="2027" name="Google Shape;2027;p18"/>
              <p:cNvCxnSpPr/>
              <p:nvPr/>
            </p:nvCxnSpPr>
            <p:spPr>
              <a:xfrm flipH="1">
                <a:off x="1734" y="1770"/>
                <a:ext cx="240" cy="33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FF0000"/>
                </a:solidFill>
                <a:prstDash val="solid"/>
                <a:miter lim="800000"/>
                <a:headEnd len="med" w="med" type="none"/>
                <a:tailEnd len="lg" w="lg" type="triangle"/>
              </a:ln>
            </p:spPr>
          </p:cxnSp>
          <p:cxnSp>
            <p:nvCxnSpPr>
              <p:cNvPr id="2028" name="Google Shape;2028;p18"/>
              <p:cNvCxnSpPr/>
              <p:nvPr/>
            </p:nvCxnSpPr>
            <p:spPr>
              <a:xfrm flipH="1">
                <a:off x="1830" y="1822"/>
                <a:ext cx="240" cy="33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FF0000"/>
                </a:solidFill>
                <a:prstDash val="solid"/>
                <a:miter lim="800000"/>
                <a:headEnd len="med" w="med" type="none"/>
                <a:tailEnd len="lg" w="lg" type="triangle"/>
              </a:ln>
            </p:spPr>
          </p:cxnSp>
          <p:cxnSp>
            <p:nvCxnSpPr>
              <p:cNvPr id="2029" name="Google Shape;2029;p18"/>
              <p:cNvCxnSpPr/>
              <p:nvPr/>
            </p:nvCxnSpPr>
            <p:spPr>
              <a:xfrm flipH="1">
                <a:off x="1916" y="1874"/>
                <a:ext cx="240" cy="33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FF0000"/>
                </a:solidFill>
                <a:prstDash val="solid"/>
                <a:miter lim="800000"/>
                <a:headEnd len="med" w="med" type="none"/>
                <a:tailEnd len="lg" w="lg" type="triangle"/>
              </a:ln>
            </p:spPr>
          </p:cxnSp>
        </p:grpSp>
      </p:grpSp>
      <p:cxnSp>
        <p:nvCxnSpPr>
          <p:cNvPr id="2030" name="Google Shape;2030;p18"/>
          <p:cNvCxnSpPr/>
          <p:nvPr/>
        </p:nvCxnSpPr>
        <p:spPr>
          <a:xfrm>
            <a:off x="1219200" y="1981200"/>
            <a:ext cx="7575550" cy="3787775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2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p19"/>
          <p:cNvSpPr/>
          <p:nvPr/>
        </p:nvSpPr>
        <p:spPr>
          <a:xfrm>
            <a:off x="3035300" y="3505200"/>
            <a:ext cx="1797050" cy="2305050"/>
          </a:xfrm>
          <a:custGeom>
            <a:rect b="b" l="l" r="r" t="t"/>
            <a:pathLst>
              <a:path extrusionOk="0" h="1452" w="1132">
                <a:moveTo>
                  <a:pt x="0" y="0"/>
                </a:moveTo>
                <a:lnTo>
                  <a:pt x="1080" y="1452"/>
                </a:lnTo>
                <a:lnTo>
                  <a:pt x="1132" y="1448"/>
                </a:lnTo>
                <a:lnTo>
                  <a:pt x="6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19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8" name="Google Shape;2038;p19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39" name="Google Shape;2039;p19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040" name="Google Shape;2040;p19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2041" name="Google Shape;2041;p19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2042" name="Google Shape;2042;p19"/>
          <p:cNvSpPr txBox="1"/>
          <p:nvPr/>
        </p:nvSpPr>
        <p:spPr>
          <a:xfrm rot="-5400000">
            <a:off x="-137318" y="37949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2043" name="Google Shape;2043;p19"/>
          <p:cNvSpPr txBox="1"/>
          <p:nvPr/>
        </p:nvSpPr>
        <p:spPr>
          <a:xfrm>
            <a:off x="5487987" y="838200"/>
            <a:ext cx="26781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66FF"/>
                </a:solidFill>
                <a:latin typeface="Arial"/>
                <a:ea typeface="Arial"/>
                <a:cs typeface="Arial"/>
                <a:sym typeface="Arial"/>
              </a:rPr>
              <a:t>Labor 30B + 60C ≤ 4200</a:t>
            </a:r>
            <a:endParaRPr/>
          </a:p>
        </p:txBody>
      </p:sp>
      <p:sp>
        <p:nvSpPr>
          <p:cNvPr id="2044" name="Google Shape;2044;p19"/>
          <p:cNvSpPr txBox="1"/>
          <p:nvPr/>
        </p:nvSpPr>
        <p:spPr>
          <a:xfrm>
            <a:off x="5487987" y="1295400"/>
            <a:ext cx="3154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Oven 60B + 45C ≤ 4650 + 75</a:t>
            </a:r>
            <a:endParaRPr/>
          </a:p>
        </p:txBody>
      </p:sp>
      <p:cxnSp>
        <p:nvCxnSpPr>
          <p:cNvPr id="2045" name="Google Shape;2045;p19"/>
          <p:cNvCxnSpPr/>
          <p:nvPr/>
        </p:nvCxnSpPr>
        <p:spPr>
          <a:xfrm rot="-1620000">
            <a:off x="1397000" y="1460500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046" name="Google Shape;2046;p19"/>
          <p:cNvSpPr txBox="1"/>
          <p:nvPr/>
        </p:nvSpPr>
        <p:spPr>
          <a:xfrm>
            <a:off x="5487987" y="2195512"/>
            <a:ext cx="18462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 C  ≤ 60</a:t>
            </a:r>
            <a:endParaRPr/>
          </a:p>
        </p:txBody>
      </p:sp>
      <p:cxnSp>
        <p:nvCxnSpPr>
          <p:cNvPr id="2047" name="Google Shape;2047;p19"/>
          <p:cNvCxnSpPr/>
          <p:nvPr/>
        </p:nvCxnSpPr>
        <p:spPr>
          <a:xfrm>
            <a:off x="1219200" y="25923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00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048" name="Google Shape;2048;p19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049" name="Google Shape;2049;p19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2050" name="Google Shape;2050;p19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2051" name="Google Shape;2051;p19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2052" name="Google Shape;2052;p19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2053" name="Google Shape;2053;p19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2054" name="Google Shape;2054;p19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2055" name="Google Shape;2055;p19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2056" name="Google Shape;2056;p19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2057" name="Google Shape;2057;p19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58" name="Google Shape;2058;p19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59" name="Google Shape;2059;p19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60" name="Google Shape;2060;p19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61" name="Google Shape;2061;p19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62" name="Google Shape;2062;p19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63" name="Google Shape;2063;p19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64" name="Google Shape;2064;p19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65" name="Google Shape;2065;p19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66" name="Google Shape;2066;p19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67" name="Google Shape;2067;p19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68" name="Google Shape;2068;p19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69" name="Google Shape;2069;p19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70" name="Google Shape;2070;p19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71" name="Google Shape;2071;p19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072" name="Google Shape;2072;p19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2073" name="Google Shape;2073;p19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2074" name="Google Shape;2074;p19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2075" name="Google Shape;2075;p19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2076" name="Google Shape;2076;p19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2077" name="Google Shape;2077;p19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2078" name="Google Shape;2078;p19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2079" name="Google Shape;2079;p19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2080" name="Google Shape;2080;p19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81" name="Google Shape;2081;p19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82" name="Google Shape;2082;p19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83" name="Google Shape;2083;p19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84" name="Google Shape;2084;p19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85" name="Google Shape;2085;p19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86" name="Google Shape;2086;p19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87" name="Google Shape;2087;p19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88" name="Google Shape;2088;p19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89" name="Google Shape;2089;p19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90" name="Google Shape;2090;p19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91" name="Google Shape;2091;p19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92" name="Google Shape;2092;p19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93" name="Google Shape;2093;p19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94" name="Google Shape;2094;p19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95" name="Google Shape;2095;p19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96" name="Google Shape;2096;p19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97" name="Google Shape;2097;p19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98" name="Google Shape;2098;p19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99" name="Google Shape;2099;p19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00" name="Google Shape;2100;p19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01" name="Google Shape;2101;p19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02" name="Google Shape;2102;p19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03" name="Google Shape;2103;p19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04" name="Google Shape;2104;p19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05" name="Google Shape;2105;p19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06" name="Google Shape;2106;p19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07" name="Google Shape;2107;p19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08" name="Google Shape;2108;p19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09" name="Google Shape;2109;p19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10" name="Google Shape;2110;p19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11" name="Google Shape;2111;p19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12" name="Google Shape;2112;p19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13" name="Google Shape;2113;p19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14" name="Google Shape;2114;p19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15" name="Google Shape;2115;p19"/>
          <p:cNvCxnSpPr/>
          <p:nvPr/>
        </p:nvCxnSpPr>
        <p:spPr>
          <a:xfrm>
            <a:off x="1244600" y="26050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66FF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16" name="Google Shape;2116;p19"/>
          <p:cNvCxnSpPr/>
          <p:nvPr/>
        </p:nvCxnSpPr>
        <p:spPr>
          <a:xfrm>
            <a:off x="1219200" y="1066800"/>
            <a:ext cx="3543300" cy="4748212"/>
          </a:xfrm>
          <a:prstGeom prst="straightConnector1">
            <a:avLst/>
          </a:prstGeom>
          <a:noFill/>
          <a:ln cap="flat" cmpd="sng" w="25400">
            <a:solidFill>
              <a:srgbClr val="990099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17" name="Google Shape;2117;p19"/>
          <p:cNvSpPr txBox="1"/>
          <p:nvPr/>
        </p:nvSpPr>
        <p:spPr>
          <a:xfrm>
            <a:off x="5487987" y="1752600"/>
            <a:ext cx="18335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Demand B  ≤ 90</a:t>
            </a:r>
            <a:endParaRPr/>
          </a:p>
        </p:txBody>
      </p:sp>
      <p:cxnSp>
        <p:nvCxnSpPr>
          <p:cNvPr id="2118" name="Google Shape;2118;p19"/>
          <p:cNvCxnSpPr/>
          <p:nvPr/>
        </p:nvCxnSpPr>
        <p:spPr>
          <a:xfrm rot="10800000">
            <a:off x="5334000" y="1387475"/>
            <a:ext cx="0" cy="4419600"/>
          </a:xfrm>
          <a:prstGeom prst="straightConnector1">
            <a:avLst/>
          </a:prstGeom>
          <a:noFill/>
          <a:ln cap="flat" cmpd="sng" w="254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19" name="Google Shape;2119;p19"/>
          <p:cNvSpPr txBox="1"/>
          <p:nvPr/>
        </p:nvSpPr>
        <p:spPr>
          <a:xfrm>
            <a:off x="2133600" y="762000"/>
            <a:ext cx="26670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happens if we add 75 minutes of oven time?</a:t>
            </a:r>
            <a:endParaRPr/>
          </a:p>
        </p:txBody>
      </p:sp>
      <p:cxnSp>
        <p:nvCxnSpPr>
          <p:cNvPr id="2120" name="Google Shape;2120;p19"/>
          <p:cNvCxnSpPr/>
          <p:nvPr/>
        </p:nvCxnSpPr>
        <p:spPr>
          <a:xfrm>
            <a:off x="1238250" y="990600"/>
            <a:ext cx="3600450" cy="4824412"/>
          </a:xfrm>
          <a:prstGeom prst="straightConnector1">
            <a:avLst/>
          </a:prstGeom>
          <a:noFill/>
          <a:ln cap="flat" cmpd="sng" w="25400">
            <a:solidFill>
              <a:srgbClr val="990099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2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20"/>
          <p:cNvSpPr/>
          <p:nvPr/>
        </p:nvSpPr>
        <p:spPr>
          <a:xfrm>
            <a:off x="3035300" y="3505200"/>
            <a:ext cx="1797050" cy="2305050"/>
          </a:xfrm>
          <a:custGeom>
            <a:rect b="b" l="l" r="r" t="t"/>
            <a:pathLst>
              <a:path extrusionOk="0" h="1452" w="1132">
                <a:moveTo>
                  <a:pt x="0" y="0"/>
                </a:moveTo>
                <a:lnTo>
                  <a:pt x="1080" y="1452"/>
                </a:lnTo>
                <a:lnTo>
                  <a:pt x="1132" y="1448"/>
                </a:lnTo>
                <a:lnTo>
                  <a:pt x="6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7" name="Google Shape;2127;p20"/>
          <p:cNvSpPr/>
          <p:nvPr/>
        </p:nvSpPr>
        <p:spPr>
          <a:xfrm>
            <a:off x="1219200" y="3060700"/>
            <a:ext cx="3549650" cy="2743200"/>
          </a:xfrm>
          <a:custGeom>
            <a:rect b="b" l="l" r="r" t="t"/>
            <a:pathLst>
              <a:path extrusionOk="0" h="1728" w="2236">
                <a:moveTo>
                  <a:pt x="0" y="0"/>
                </a:moveTo>
                <a:lnTo>
                  <a:pt x="580" y="0"/>
                </a:lnTo>
                <a:lnTo>
                  <a:pt x="1152" y="284"/>
                </a:lnTo>
                <a:lnTo>
                  <a:pt x="2236" y="1728"/>
                </a:lnTo>
                <a:lnTo>
                  <a:pt x="0" y="1728"/>
                </a:lnTo>
                <a:lnTo>
                  <a:pt x="0" y="0"/>
                </a:lnTo>
                <a:close/>
              </a:path>
            </a:pathLst>
          </a:custGeom>
          <a:solidFill>
            <a:srgbClr val="3399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8" name="Google Shape;2128;p20"/>
          <p:cNvCxnSpPr/>
          <p:nvPr/>
        </p:nvCxnSpPr>
        <p:spPr>
          <a:xfrm>
            <a:off x="1219200" y="965200"/>
            <a:ext cx="0" cy="4840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29" name="Google Shape;2129;p20"/>
          <p:cNvCxnSpPr/>
          <p:nvPr/>
        </p:nvCxnSpPr>
        <p:spPr>
          <a:xfrm rot="10800000">
            <a:off x="1219200" y="5805487"/>
            <a:ext cx="723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30" name="Google Shape;2130;p20"/>
          <p:cNvSpPr txBox="1"/>
          <p:nvPr/>
        </p:nvSpPr>
        <p:spPr>
          <a:xfrm>
            <a:off x="614362" y="1077912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2131" name="Google Shape;2131;p20"/>
          <p:cNvSpPr txBox="1"/>
          <p:nvPr/>
        </p:nvSpPr>
        <p:spPr>
          <a:xfrm>
            <a:off x="5410200" y="6248400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 (B)</a:t>
            </a:r>
            <a:endParaRPr/>
          </a:p>
        </p:txBody>
      </p:sp>
      <p:sp>
        <p:nvSpPr>
          <p:cNvPr id="2132" name="Google Shape;2132;p20"/>
          <p:cNvSpPr txBox="1"/>
          <p:nvPr/>
        </p:nvSpPr>
        <p:spPr>
          <a:xfrm rot="-5400000">
            <a:off x="-213518" y="2194718"/>
            <a:ext cx="109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Cake (C)</a:t>
            </a:r>
            <a:endParaRPr/>
          </a:p>
        </p:txBody>
      </p:sp>
      <p:sp>
        <p:nvSpPr>
          <p:cNvPr id="2133" name="Google Shape;2133;p20"/>
          <p:cNvSpPr txBox="1"/>
          <p:nvPr/>
        </p:nvSpPr>
        <p:spPr>
          <a:xfrm>
            <a:off x="5487987" y="838200"/>
            <a:ext cx="26781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66FF"/>
                </a:solidFill>
                <a:latin typeface="Arial"/>
                <a:ea typeface="Arial"/>
                <a:cs typeface="Arial"/>
                <a:sym typeface="Arial"/>
              </a:rPr>
              <a:t>Labor 30B + 60C ≤ 4200</a:t>
            </a:r>
            <a:endParaRPr/>
          </a:p>
        </p:txBody>
      </p:sp>
      <p:sp>
        <p:nvSpPr>
          <p:cNvPr id="2134" name="Google Shape;2134;p20"/>
          <p:cNvSpPr txBox="1"/>
          <p:nvPr/>
        </p:nvSpPr>
        <p:spPr>
          <a:xfrm>
            <a:off x="5487987" y="1295400"/>
            <a:ext cx="3154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Oven 60B + 45C ≤ 4650 + 75</a:t>
            </a:r>
            <a:endParaRPr/>
          </a:p>
        </p:txBody>
      </p:sp>
      <p:cxnSp>
        <p:nvCxnSpPr>
          <p:cNvPr id="2135" name="Google Shape;2135;p20"/>
          <p:cNvCxnSpPr/>
          <p:nvPr/>
        </p:nvCxnSpPr>
        <p:spPr>
          <a:xfrm rot="-1620000">
            <a:off x="1397000" y="1460500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36" name="Google Shape;2136;p20"/>
          <p:cNvSpPr txBox="1"/>
          <p:nvPr/>
        </p:nvSpPr>
        <p:spPr>
          <a:xfrm>
            <a:off x="5487987" y="2195512"/>
            <a:ext cx="18462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 C  ≤ 60</a:t>
            </a:r>
            <a:endParaRPr/>
          </a:p>
        </p:txBody>
      </p:sp>
      <p:cxnSp>
        <p:nvCxnSpPr>
          <p:cNvPr id="2137" name="Google Shape;2137;p20"/>
          <p:cNvCxnSpPr/>
          <p:nvPr/>
        </p:nvCxnSpPr>
        <p:spPr>
          <a:xfrm>
            <a:off x="1219200" y="25923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00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38" name="Google Shape;2138;p20"/>
          <p:cNvSpPr txBox="1"/>
          <p:nvPr/>
        </p:nvSpPr>
        <p:spPr>
          <a:xfrm>
            <a:off x="657225" y="51625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139" name="Google Shape;2139;p20"/>
          <p:cNvSpPr txBox="1"/>
          <p:nvPr/>
        </p:nvSpPr>
        <p:spPr>
          <a:xfrm>
            <a:off x="661987" y="47244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2140" name="Google Shape;2140;p20"/>
          <p:cNvSpPr txBox="1"/>
          <p:nvPr/>
        </p:nvSpPr>
        <p:spPr>
          <a:xfrm>
            <a:off x="666750" y="42862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2141" name="Google Shape;2141;p20"/>
          <p:cNvSpPr txBox="1"/>
          <p:nvPr/>
        </p:nvSpPr>
        <p:spPr>
          <a:xfrm>
            <a:off x="671512" y="38481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2142" name="Google Shape;2142;p20"/>
          <p:cNvSpPr txBox="1"/>
          <p:nvPr/>
        </p:nvSpPr>
        <p:spPr>
          <a:xfrm>
            <a:off x="676275" y="340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2143" name="Google Shape;2143;p20"/>
          <p:cNvSpPr txBox="1"/>
          <p:nvPr/>
        </p:nvSpPr>
        <p:spPr>
          <a:xfrm>
            <a:off x="681037" y="29718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2144" name="Google Shape;2144;p20"/>
          <p:cNvSpPr txBox="1"/>
          <p:nvPr/>
        </p:nvSpPr>
        <p:spPr>
          <a:xfrm>
            <a:off x="685800" y="2519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2145" name="Google Shape;2145;p20"/>
          <p:cNvSpPr txBox="1"/>
          <p:nvPr/>
        </p:nvSpPr>
        <p:spPr>
          <a:xfrm>
            <a:off x="690562" y="205263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2146" name="Google Shape;2146;p20"/>
          <p:cNvSpPr txBox="1"/>
          <p:nvPr/>
        </p:nvSpPr>
        <p:spPr>
          <a:xfrm>
            <a:off x="695325" y="16287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2147" name="Google Shape;2147;p20"/>
          <p:cNvCxnSpPr/>
          <p:nvPr/>
        </p:nvCxnSpPr>
        <p:spPr>
          <a:xfrm rot="10800000">
            <a:off x="16764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48" name="Google Shape;2148;p20"/>
          <p:cNvCxnSpPr/>
          <p:nvPr/>
        </p:nvCxnSpPr>
        <p:spPr>
          <a:xfrm rot="10800000">
            <a:off x="2133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49" name="Google Shape;2149;p20"/>
          <p:cNvCxnSpPr/>
          <p:nvPr/>
        </p:nvCxnSpPr>
        <p:spPr>
          <a:xfrm rot="10800000">
            <a:off x="2590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50" name="Google Shape;2150;p20"/>
          <p:cNvCxnSpPr/>
          <p:nvPr/>
        </p:nvCxnSpPr>
        <p:spPr>
          <a:xfrm rot="10800000">
            <a:off x="3048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51" name="Google Shape;2151;p20"/>
          <p:cNvCxnSpPr/>
          <p:nvPr/>
        </p:nvCxnSpPr>
        <p:spPr>
          <a:xfrm rot="10800000">
            <a:off x="3505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52" name="Google Shape;2152;p20"/>
          <p:cNvCxnSpPr/>
          <p:nvPr/>
        </p:nvCxnSpPr>
        <p:spPr>
          <a:xfrm rot="10800000">
            <a:off x="3962400" y="581025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53" name="Google Shape;2153;p20"/>
          <p:cNvCxnSpPr/>
          <p:nvPr/>
        </p:nvCxnSpPr>
        <p:spPr>
          <a:xfrm rot="10800000">
            <a:off x="4419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54" name="Google Shape;2154;p20"/>
          <p:cNvCxnSpPr/>
          <p:nvPr/>
        </p:nvCxnSpPr>
        <p:spPr>
          <a:xfrm rot="10800000">
            <a:off x="48768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55" name="Google Shape;2155;p20"/>
          <p:cNvCxnSpPr/>
          <p:nvPr/>
        </p:nvCxnSpPr>
        <p:spPr>
          <a:xfrm rot="10800000">
            <a:off x="5334000" y="58007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56" name="Google Shape;2156;p20"/>
          <p:cNvCxnSpPr/>
          <p:nvPr/>
        </p:nvCxnSpPr>
        <p:spPr>
          <a:xfrm rot="10800000">
            <a:off x="5791200" y="58039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57" name="Google Shape;2157;p20"/>
          <p:cNvCxnSpPr/>
          <p:nvPr/>
        </p:nvCxnSpPr>
        <p:spPr>
          <a:xfrm rot="10800000">
            <a:off x="62484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58" name="Google Shape;2158;p20"/>
          <p:cNvCxnSpPr/>
          <p:nvPr/>
        </p:nvCxnSpPr>
        <p:spPr>
          <a:xfrm rot="10800000">
            <a:off x="67056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59" name="Google Shape;2159;p20"/>
          <p:cNvCxnSpPr/>
          <p:nvPr/>
        </p:nvCxnSpPr>
        <p:spPr>
          <a:xfrm rot="10800000">
            <a:off x="71628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60" name="Google Shape;2160;p20"/>
          <p:cNvCxnSpPr/>
          <p:nvPr/>
        </p:nvCxnSpPr>
        <p:spPr>
          <a:xfrm rot="10800000">
            <a:off x="76200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61" name="Google Shape;2161;p20"/>
          <p:cNvCxnSpPr/>
          <p:nvPr/>
        </p:nvCxnSpPr>
        <p:spPr>
          <a:xfrm rot="10800000">
            <a:off x="8077200" y="58070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62" name="Google Shape;2162;p20"/>
          <p:cNvSpPr txBox="1"/>
          <p:nvPr/>
        </p:nvSpPr>
        <p:spPr>
          <a:xfrm>
            <a:off x="1917700" y="5957887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2163" name="Google Shape;2163;p20"/>
          <p:cNvSpPr txBox="1"/>
          <p:nvPr/>
        </p:nvSpPr>
        <p:spPr>
          <a:xfrm>
            <a:off x="1917700" y="595630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2164" name="Google Shape;2164;p20"/>
          <p:cNvSpPr txBox="1"/>
          <p:nvPr/>
        </p:nvSpPr>
        <p:spPr>
          <a:xfrm>
            <a:off x="2844800" y="595312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2165" name="Google Shape;2165;p20"/>
          <p:cNvSpPr txBox="1"/>
          <p:nvPr/>
        </p:nvSpPr>
        <p:spPr>
          <a:xfrm>
            <a:off x="3746500" y="5949950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2166" name="Google Shape;2166;p20"/>
          <p:cNvSpPr txBox="1"/>
          <p:nvPr/>
        </p:nvSpPr>
        <p:spPr>
          <a:xfrm>
            <a:off x="4654550" y="5948362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2167" name="Google Shape;2167;p20"/>
          <p:cNvSpPr txBox="1"/>
          <p:nvPr/>
        </p:nvSpPr>
        <p:spPr>
          <a:xfrm>
            <a:off x="55054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2168" name="Google Shape;2168;p20"/>
          <p:cNvSpPr txBox="1"/>
          <p:nvPr/>
        </p:nvSpPr>
        <p:spPr>
          <a:xfrm>
            <a:off x="64198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</p:txBody>
      </p:sp>
      <p:sp>
        <p:nvSpPr>
          <p:cNvPr id="2169" name="Google Shape;2169;p20"/>
          <p:cNvSpPr txBox="1"/>
          <p:nvPr/>
        </p:nvSpPr>
        <p:spPr>
          <a:xfrm>
            <a:off x="7334250" y="5957887"/>
            <a:ext cx="56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/>
          </a:p>
        </p:txBody>
      </p:sp>
      <p:cxnSp>
        <p:nvCxnSpPr>
          <p:cNvPr id="2170" name="Google Shape;2170;p20"/>
          <p:cNvCxnSpPr/>
          <p:nvPr/>
        </p:nvCxnSpPr>
        <p:spPr>
          <a:xfrm>
            <a:off x="1066800" y="5346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71" name="Google Shape;2171;p20"/>
          <p:cNvCxnSpPr/>
          <p:nvPr/>
        </p:nvCxnSpPr>
        <p:spPr>
          <a:xfrm>
            <a:off x="1066800" y="48863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72" name="Google Shape;2172;p20"/>
          <p:cNvCxnSpPr/>
          <p:nvPr/>
        </p:nvCxnSpPr>
        <p:spPr>
          <a:xfrm>
            <a:off x="1066800" y="4432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73" name="Google Shape;2173;p20"/>
          <p:cNvCxnSpPr/>
          <p:nvPr/>
        </p:nvCxnSpPr>
        <p:spPr>
          <a:xfrm>
            <a:off x="1066800" y="3975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74" name="Google Shape;2174;p20"/>
          <p:cNvCxnSpPr/>
          <p:nvPr/>
        </p:nvCxnSpPr>
        <p:spPr>
          <a:xfrm>
            <a:off x="1066800" y="3517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75" name="Google Shape;2175;p20"/>
          <p:cNvCxnSpPr/>
          <p:nvPr/>
        </p:nvCxnSpPr>
        <p:spPr>
          <a:xfrm>
            <a:off x="1066800" y="30607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76" name="Google Shape;2176;p20"/>
          <p:cNvCxnSpPr/>
          <p:nvPr/>
        </p:nvCxnSpPr>
        <p:spPr>
          <a:xfrm>
            <a:off x="1066800" y="26035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77" name="Google Shape;2177;p20"/>
          <p:cNvCxnSpPr/>
          <p:nvPr/>
        </p:nvCxnSpPr>
        <p:spPr>
          <a:xfrm>
            <a:off x="1066800" y="21463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78" name="Google Shape;2178;p20"/>
          <p:cNvCxnSpPr/>
          <p:nvPr/>
        </p:nvCxnSpPr>
        <p:spPr>
          <a:xfrm>
            <a:off x="1060450" y="16891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79" name="Google Shape;2179;p20"/>
          <p:cNvCxnSpPr/>
          <p:nvPr/>
        </p:nvCxnSpPr>
        <p:spPr>
          <a:xfrm>
            <a:off x="1063625" y="12319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80" name="Google Shape;2180;p20"/>
          <p:cNvCxnSpPr/>
          <p:nvPr/>
        </p:nvCxnSpPr>
        <p:spPr>
          <a:xfrm>
            <a:off x="1143000" y="5575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81" name="Google Shape;2181;p20"/>
          <p:cNvCxnSpPr/>
          <p:nvPr/>
        </p:nvCxnSpPr>
        <p:spPr>
          <a:xfrm>
            <a:off x="1143000" y="5118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82" name="Google Shape;2182;p20"/>
          <p:cNvCxnSpPr/>
          <p:nvPr/>
        </p:nvCxnSpPr>
        <p:spPr>
          <a:xfrm>
            <a:off x="1143000" y="4660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83" name="Google Shape;2183;p20"/>
          <p:cNvCxnSpPr/>
          <p:nvPr/>
        </p:nvCxnSpPr>
        <p:spPr>
          <a:xfrm>
            <a:off x="1143000" y="4203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84" name="Google Shape;2184;p20"/>
          <p:cNvCxnSpPr/>
          <p:nvPr/>
        </p:nvCxnSpPr>
        <p:spPr>
          <a:xfrm>
            <a:off x="1143000" y="3746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85" name="Google Shape;2185;p20"/>
          <p:cNvCxnSpPr/>
          <p:nvPr/>
        </p:nvCxnSpPr>
        <p:spPr>
          <a:xfrm>
            <a:off x="1143000" y="32893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86" name="Google Shape;2186;p20"/>
          <p:cNvCxnSpPr/>
          <p:nvPr/>
        </p:nvCxnSpPr>
        <p:spPr>
          <a:xfrm>
            <a:off x="1143000" y="28321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87" name="Google Shape;2187;p20"/>
          <p:cNvCxnSpPr/>
          <p:nvPr/>
        </p:nvCxnSpPr>
        <p:spPr>
          <a:xfrm>
            <a:off x="1143000" y="23749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88" name="Google Shape;2188;p20"/>
          <p:cNvCxnSpPr/>
          <p:nvPr/>
        </p:nvCxnSpPr>
        <p:spPr>
          <a:xfrm>
            <a:off x="1143000" y="19177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89" name="Google Shape;2189;p20"/>
          <p:cNvCxnSpPr/>
          <p:nvPr/>
        </p:nvCxnSpPr>
        <p:spPr>
          <a:xfrm>
            <a:off x="1143000" y="1460500"/>
            <a:ext cx="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90" name="Google Shape;2190;p20"/>
          <p:cNvCxnSpPr/>
          <p:nvPr/>
        </p:nvCxnSpPr>
        <p:spPr>
          <a:xfrm>
            <a:off x="1447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91" name="Google Shape;2191;p20"/>
          <p:cNvCxnSpPr/>
          <p:nvPr/>
        </p:nvCxnSpPr>
        <p:spPr>
          <a:xfrm>
            <a:off x="1905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92" name="Google Shape;2192;p20"/>
          <p:cNvCxnSpPr/>
          <p:nvPr/>
        </p:nvCxnSpPr>
        <p:spPr>
          <a:xfrm>
            <a:off x="2362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93" name="Google Shape;2193;p20"/>
          <p:cNvCxnSpPr/>
          <p:nvPr/>
        </p:nvCxnSpPr>
        <p:spPr>
          <a:xfrm>
            <a:off x="2819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94" name="Google Shape;2194;p20"/>
          <p:cNvCxnSpPr/>
          <p:nvPr/>
        </p:nvCxnSpPr>
        <p:spPr>
          <a:xfrm>
            <a:off x="3276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95" name="Google Shape;2195;p20"/>
          <p:cNvCxnSpPr/>
          <p:nvPr/>
        </p:nvCxnSpPr>
        <p:spPr>
          <a:xfrm>
            <a:off x="3733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96" name="Google Shape;2196;p20"/>
          <p:cNvCxnSpPr/>
          <p:nvPr/>
        </p:nvCxnSpPr>
        <p:spPr>
          <a:xfrm>
            <a:off x="4191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97" name="Google Shape;2197;p20"/>
          <p:cNvCxnSpPr/>
          <p:nvPr/>
        </p:nvCxnSpPr>
        <p:spPr>
          <a:xfrm>
            <a:off x="4648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98" name="Google Shape;2198;p20"/>
          <p:cNvCxnSpPr/>
          <p:nvPr/>
        </p:nvCxnSpPr>
        <p:spPr>
          <a:xfrm>
            <a:off x="5105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99" name="Google Shape;2199;p20"/>
          <p:cNvCxnSpPr/>
          <p:nvPr/>
        </p:nvCxnSpPr>
        <p:spPr>
          <a:xfrm>
            <a:off x="5562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200" name="Google Shape;2200;p20"/>
          <p:cNvCxnSpPr/>
          <p:nvPr/>
        </p:nvCxnSpPr>
        <p:spPr>
          <a:xfrm>
            <a:off x="60198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201" name="Google Shape;2201;p20"/>
          <p:cNvCxnSpPr/>
          <p:nvPr/>
        </p:nvCxnSpPr>
        <p:spPr>
          <a:xfrm>
            <a:off x="64770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202" name="Google Shape;2202;p20"/>
          <p:cNvCxnSpPr/>
          <p:nvPr/>
        </p:nvCxnSpPr>
        <p:spPr>
          <a:xfrm>
            <a:off x="69342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203" name="Google Shape;2203;p20"/>
          <p:cNvCxnSpPr/>
          <p:nvPr/>
        </p:nvCxnSpPr>
        <p:spPr>
          <a:xfrm>
            <a:off x="73914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204" name="Google Shape;2204;p20"/>
          <p:cNvCxnSpPr/>
          <p:nvPr/>
        </p:nvCxnSpPr>
        <p:spPr>
          <a:xfrm>
            <a:off x="7848600" y="5803900"/>
            <a:ext cx="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205" name="Google Shape;2205;p20"/>
          <p:cNvCxnSpPr/>
          <p:nvPr/>
        </p:nvCxnSpPr>
        <p:spPr>
          <a:xfrm>
            <a:off x="1244600" y="2605087"/>
            <a:ext cx="6375400" cy="3198812"/>
          </a:xfrm>
          <a:prstGeom prst="straightConnector1">
            <a:avLst/>
          </a:prstGeom>
          <a:noFill/>
          <a:ln cap="flat" cmpd="sng" w="25400">
            <a:solidFill>
              <a:srgbClr val="FF66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206" name="Google Shape;2206;p20"/>
          <p:cNvSpPr txBox="1"/>
          <p:nvPr/>
        </p:nvSpPr>
        <p:spPr>
          <a:xfrm>
            <a:off x="5487987" y="1752600"/>
            <a:ext cx="18335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Demand B  ≤ 90</a:t>
            </a:r>
            <a:endParaRPr/>
          </a:p>
        </p:txBody>
      </p:sp>
      <p:cxnSp>
        <p:nvCxnSpPr>
          <p:cNvPr id="2207" name="Google Shape;2207;p20"/>
          <p:cNvCxnSpPr/>
          <p:nvPr/>
        </p:nvCxnSpPr>
        <p:spPr>
          <a:xfrm rot="10800000">
            <a:off x="5334000" y="1387475"/>
            <a:ext cx="0" cy="4419600"/>
          </a:xfrm>
          <a:prstGeom prst="straightConnector1">
            <a:avLst/>
          </a:prstGeom>
          <a:noFill/>
          <a:ln cap="flat" cmpd="sng" w="254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208" name="Google Shape;2208;p20"/>
          <p:cNvSpPr txBox="1"/>
          <p:nvPr/>
        </p:nvSpPr>
        <p:spPr>
          <a:xfrm>
            <a:off x="2133600" y="762000"/>
            <a:ext cx="26670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happens if we add 75 minutes of oven time?</a:t>
            </a:r>
            <a:endParaRPr/>
          </a:p>
        </p:txBody>
      </p:sp>
      <p:cxnSp>
        <p:nvCxnSpPr>
          <p:cNvPr id="2209" name="Google Shape;2209;p20"/>
          <p:cNvCxnSpPr/>
          <p:nvPr/>
        </p:nvCxnSpPr>
        <p:spPr>
          <a:xfrm>
            <a:off x="1238250" y="990600"/>
            <a:ext cx="3600450" cy="4824412"/>
          </a:xfrm>
          <a:prstGeom prst="straightConnector1">
            <a:avLst/>
          </a:prstGeom>
          <a:noFill/>
          <a:ln cap="flat" cmpd="sng" w="25400">
            <a:solidFill>
              <a:srgbClr val="990099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2210" name="Google Shape;2210;p20"/>
          <p:cNvGrpSpPr/>
          <p:nvPr/>
        </p:nvGrpSpPr>
        <p:grpSpPr>
          <a:xfrm>
            <a:off x="76200" y="3505200"/>
            <a:ext cx="3416300" cy="3327400"/>
            <a:chOff x="48" y="2208"/>
            <a:chExt cx="2152" cy="2096"/>
          </a:xfrm>
        </p:grpSpPr>
        <p:cxnSp>
          <p:nvCxnSpPr>
            <p:cNvPr id="2211" name="Google Shape;2211;p20"/>
            <p:cNvCxnSpPr/>
            <p:nvPr/>
          </p:nvCxnSpPr>
          <p:spPr>
            <a:xfrm>
              <a:off x="320" y="2240"/>
              <a:ext cx="1657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212" name="Google Shape;2212;p20"/>
            <p:cNvCxnSpPr/>
            <p:nvPr/>
          </p:nvCxnSpPr>
          <p:spPr>
            <a:xfrm>
              <a:off x="1986" y="2228"/>
              <a:ext cx="30" cy="1804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213" name="Google Shape;2213;p20"/>
            <p:cNvSpPr/>
            <p:nvPr/>
          </p:nvSpPr>
          <p:spPr>
            <a:xfrm>
              <a:off x="1728" y="3984"/>
              <a:ext cx="472" cy="320"/>
            </a:xfrm>
            <a:custGeom>
              <a:rect b="b" l="l" r="r" t="t"/>
              <a:pathLst>
                <a:path extrusionOk="0" h="320" w="472">
                  <a:moveTo>
                    <a:pt x="96" y="280"/>
                  </a:moveTo>
                  <a:cubicBezTo>
                    <a:pt x="168" y="296"/>
                    <a:pt x="392" y="320"/>
                    <a:pt x="432" y="280"/>
                  </a:cubicBezTo>
                  <a:cubicBezTo>
                    <a:pt x="472" y="240"/>
                    <a:pt x="392" y="80"/>
                    <a:pt x="336" y="40"/>
                  </a:cubicBezTo>
                  <a:cubicBezTo>
                    <a:pt x="280" y="0"/>
                    <a:pt x="152" y="16"/>
                    <a:pt x="96" y="40"/>
                  </a:cubicBezTo>
                  <a:cubicBezTo>
                    <a:pt x="40" y="64"/>
                    <a:pt x="0" y="144"/>
                    <a:pt x="0" y="184"/>
                  </a:cubicBezTo>
                  <a:cubicBezTo>
                    <a:pt x="0" y="224"/>
                    <a:pt x="24" y="264"/>
                    <a:pt x="96" y="280"/>
                  </a:cubicBez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20"/>
            <p:cNvSpPr/>
            <p:nvPr/>
          </p:nvSpPr>
          <p:spPr>
            <a:xfrm>
              <a:off x="48" y="2208"/>
              <a:ext cx="472" cy="320"/>
            </a:xfrm>
            <a:custGeom>
              <a:rect b="b" l="l" r="r" t="t"/>
              <a:pathLst>
                <a:path extrusionOk="0" h="320" w="472">
                  <a:moveTo>
                    <a:pt x="96" y="280"/>
                  </a:moveTo>
                  <a:cubicBezTo>
                    <a:pt x="168" y="296"/>
                    <a:pt x="392" y="320"/>
                    <a:pt x="432" y="280"/>
                  </a:cubicBezTo>
                  <a:cubicBezTo>
                    <a:pt x="472" y="240"/>
                    <a:pt x="392" y="80"/>
                    <a:pt x="336" y="40"/>
                  </a:cubicBezTo>
                  <a:cubicBezTo>
                    <a:pt x="280" y="0"/>
                    <a:pt x="152" y="16"/>
                    <a:pt x="96" y="40"/>
                  </a:cubicBezTo>
                  <a:cubicBezTo>
                    <a:pt x="40" y="64"/>
                    <a:pt x="0" y="144"/>
                    <a:pt x="0" y="184"/>
                  </a:cubicBezTo>
                  <a:cubicBezTo>
                    <a:pt x="0" y="224"/>
                    <a:pt x="24" y="264"/>
                    <a:pt x="96" y="280"/>
                  </a:cubicBez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20"/>
            <p:cNvSpPr txBox="1"/>
            <p:nvPr/>
          </p:nvSpPr>
          <p:spPr>
            <a:xfrm>
              <a:off x="144" y="2256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49</a:t>
              </a:r>
              <a:endParaRPr/>
            </a:p>
          </p:txBody>
        </p:sp>
        <p:sp>
          <p:nvSpPr>
            <p:cNvPr id="2216" name="Google Shape;2216;p20"/>
            <p:cNvSpPr txBox="1"/>
            <p:nvPr/>
          </p:nvSpPr>
          <p:spPr>
            <a:xfrm>
              <a:off x="1872" y="4032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42</a:t>
              </a:r>
              <a:endParaRPr/>
            </a:p>
          </p:txBody>
        </p:sp>
      </p:grpSp>
      <p:sp>
        <p:nvSpPr>
          <p:cNvPr id="2217" name="Google Shape;2217;p20"/>
          <p:cNvSpPr txBox="1"/>
          <p:nvPr/>
        </p:nvSpPr>
        <p:spPr>
          <a:xfrm>
            <a:off x="5486400" y="3276600"/>
            <a:ext cx="37338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optimal solution changes to :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42 * $50 + 49* $60 = $5,040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2009-03-03T00:00:45Z</dcterms:created>
  <dc:creator/>
</cp:coreProperties>
</file>